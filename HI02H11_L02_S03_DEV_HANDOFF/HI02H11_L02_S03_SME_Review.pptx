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76" r:id="rId10"/>
    <p:sldId id="263" r:id="rId11"/>
    <p:sldId id="265" r:id="rId12"/>
    <p:sldId id="264" r:id="rId13"/>
    <p:sldId id="266" r:id="rId14"/>
    <p:sldId id="267" r:id="rId15"/>
    <p:sldId id="268" r:id="rId16"/>
    <p:sldId id="269" r:id="rId17"/>
    <p:sldId id="270" r:id="rId18"/>
    <p:sldId id="272" r:id="rId19"/>
    <p:sldId id="273" r:id="rId20"/>
    <p:sldId id="277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210" autoAdjust="0"/>
  </p:normalViewPr>
  <p:slideViewPr>
    <p:cSldViewPr snapToGrid="0" snapToObjects="1">
      <p:cViewPr varScale="1">
        <p:scale>
          <a:sx n="60" d="100"/>
          <a:sy n="60" d="100"/>
        </p:scale>
        <p:origin x="88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1138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B42EF-2B19-45A4-8CB5-39223A99333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1D9CCE-4418-44B9-B7EA-1229C31EFC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95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Recommendations:</a:t>
            </a:r>
            <a:b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मात्राओं</a:t>
            </a:r>
            <a:b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की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रेल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Screen Changes: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•Remove all extra text that is not required.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•Keep the screen clean and minimal.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•Show only two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boxes/cards: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1st box: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i-IN" sz="1800" dirty="0"/>
              <a:t>ए’(◌े)</a:t>
            </a:r>
            <a:br>
              <a:rPr lang="hi-IN" sz="1800" dirty="0"/>
            </a:b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2nd box: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200" dirty="0"/>
              <a:t>‘</a:t>
            </a:r>
            <a:r>
              <a:rPr lang="hi-IN" sz="1200" dirty="0"/>
              <a:t>ऐ’(◌ै)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•Keep the existing mascot and overall UI/UX style unchanged.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•Follow the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same train-theme visual treatment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used in the previous PPT. The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can be shown inside two train bogies/cards so that the lesson visually continues as a “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मात्राओं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की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रेल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” journey.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Animation: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•If possible, bring the train onto the screen with a smooth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right-to-left animation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•The two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boxes/bogies can appear one by one with a soft pop/fade animation.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•First show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ु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followed by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ू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•Keep animations subtle and child-friendly.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SFX: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•Add a soft 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train arrival / whistle SFX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when the train enters.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•Add a light sparkle/pop SFX when each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appears.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VO: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हेलो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दोस्त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!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मैं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हूँ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स्विफ्टी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।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आज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हम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मात्राओं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के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बारे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में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जानेंगे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।”</a:t>
            </a:r>
            <a:endParaRPr lang="en-GB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After this VO, the two </a:t>
            </a:r>
            <a:r>
              <a:rPr lang="en-GB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matras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hi-IN" sz="1800" dirty="0"/>
              <a:t>‘ए’(◌े), </a:t>
            </a:r>
            <a:r>
              <a:rPr lang="en-IN" sz="1800" dirty="0"/>
              <a:t>‘</a:t>
            </a:r>
            <a:r>
              <a:rPr lang="hi-IN" sz="1800" dirty="0"/>
              <a:t>ऐ’(◌ै) 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can appear one by one on screen.</a:t>
            </a:r>
            <a:endParaRPr lang="en-GB" b="0" dirty="0">
              <a:effectLst/>
            </a:endParaRPr>
          </a:p>
          <a:p>
            <a:br>
              <a:rPr lang="en-GB" b="0" dirty="0">
                <a:effectLst/>
              </a:rPr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547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dirty="0"/>
              <a:t>“</a:t>
            </a:r>
            <a:r>
              <a:rPr lang="en-GB" dirty="0" err="1"/>
              <a:t>आज</a:t>
            </a:r>
            <a:r>
              <a:rPr lang="en-GB" dirty="0"/>
              <a:t> </a:t>
            </a:r>
            <a:r>
              <a:rPr lang="en-GB" dirty="0" err="1"/>
              <a:t>हम</a:t>
            </a:r>
            <a:r>
              <a:rPr lang="en-GB" dirty="0"/>
              <a:t> ए </a:t>
            </a:r>
            <a:r>
              <a:rPr lang="en-GB" dirty="0" err="1"/>
              <a:t>और</a:t>
            </a:r>
            <a:r>
              <a:rPr lang="en-GB" dirty="0"/>
              <a:t> ऐ </a:t>
            </a:r>
            <a:r>
              <a:rPr lang="en-GB" dirty="0" err="1"/>
              <a:t>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वाले</a:t>
            </a:r>
            <a:r>
              <a:rPr lang="en-GB" dirty="0"/>
              <a:t> </a:t>
            </a:r>
            <a:r>
              <a:rPr lang="en-GB" dirty="0" err="1"/>
              <a:t>शब्द</a:t>
            </a:r>
            <a:r>
              <a:rPr lang="en-GB" dirty="0"/>
              <a:t> </a:t>
            </a:r>
            <a:r>
              <a:rPr lang="en-GB" dirty="0" err="1"/>
              <a:t>पढ़ेंगे</a:t>
            </a:r>
            <a:r>
              <a:rPr lang="en-GB" dirty="0"/>
              <a:t>।”</a:t>
            </a:r>
          </a:p>
          <a:p>
            <a:r>
              <a:rPr lang="en-GB" dirty="0" err="1"/>
              <a:t>इसके</a:t>
            </a:r>
            <a:r>
              <a:rPr lang="en-GB" dirty="0"/>
              <a:t> </a:t>
            </a:r>
            <a:r>
              <a:rPr lang="en-GB" dirty="0" err="1"/>
              <a:t>बाद</a:t>
            </a:r>
            <a:r>
              <a:rPr lang="en-GB" dirty="0"/>
              <a:t> pair-wise VO </a:t>
            </a:r>
            <a:r>
              <a:rPr lang="en-GB" dirty="0" err="1"/>
              <a:t>इस</a:t>
            </a:r>
            <a:r>
              <a:rPr lang="en-GB" dirty="0"/>
              <a:t> </a:t>
            </a:r>
            <a:r>
              <a:rPr lang="en-GB" dirty="0" err="1"/>
              <a:t>तरह</a:t>
            </a:r>
            <a:r>
              <a:rPr lang="en-GB" dirty="0"/>
              <a:t> </a:t>
            </a:r>
            <a:r>
              <a:rPr lang="en-GB" dirty="0" err="1"/>
              <a:t>चल</a:t>
            </a:r>
            <a:r>
              <a:rPr lang="en-GB" dirty="0"/>
              <a:t> </a:t>
            </a:r>
            <a:r>
              <a:rPr lang="en-GB" dirty="0" err="1"/>
              <a:t>सकती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:</a:t>
            </a:r>
          </a:p>
          <a:p>
            <a:r>
              <a:rPr lang="en-GB" dirty="0"/>
              <a:t>“</a:t>
            </a:r>
            <a:r>
              <a:rPr lang="en-GB" dirty="0" err="1"/>
              <a:t>यह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 ए। </a:t>
            </a:r>
            <a:r>
              <a:rPr lang="en-GB" dirty="0" err="1"/>
              <a:t>इसकी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देखिए</a:t>
            </a:r>
            <a:r>
              <a:rPr lang="en-GB" dirty="0"/>
              <a:t>।”</a:t>
            </a:r>
            <a:br>
              <a:rPr lang="en-GB" dirty="0"/>
            </a:br>
            <a:r>
              <a:rPr lang="en-GB" dirty="0"/>
              <a:t>“</a:t>
            </a:r>
            <a:r>
              <a:rPr lang="en-GB" dirty="0" err="1"/>
              <a:t>यह</a:t>
            </a:r>
            <a:r>
              <a:rPr lang="en-GB" dirty="0"/>
              <a:t> </a:t>
            </a:r>
            <a:r>
              <a:rPr lang="en-GB" dirty="0" err="1"/>
              <a:t>है</a:t>
            </a:r>
            <a:r>
              <a:rPr lang="en-GB" dirty="0"/>
              <a:t> ऐ। </a:t>
            </a:r>
            <a:r>
              <a:rPr lang="en-GB" dirty="0" err="1"/>
              <a:t>इसकी</a:t>
            </a:r>
            <a:r>
              <a:rPr lang="en-GB" dirty="0"/>
              <a:t>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देखिए</a:t>
            </a:r>
            <a:r>
              <a:rPr lang="en-GB" dirty="0"/>
              <a:t>।”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</a:t>
            </a:r>
            <a:r>
              <a:rPr lang="en-GB" b="1" dirty="0" err="1"/>
              <a:t>आज</a:t>
            </a:r>
            <a:r>
              <a:rPr lang="en-GB" b="1" dirty="0"/>
              <a:t> </a:t>
            </a:r>
            <a:r>
              <a:rPr lang="en-GB" b="1" dirty="0" err="1"/>
              <a:t>हम</a:t>
            </a:r>
            <a:r>
              <a:rPr lang="en-GB" b="1" dirty="0"/>
              <a:t> ए </a:t>
            </a:r>
            <a:r>
              <a:rPr lang="en-GB" b="1" dirty="0" err="1"/>
              <a:t>और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पढ़ेंगे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any additional text so the screen stays clean and focused.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</a:t>
            </a:r>
            <a:r>
              <a:rPr lang="en-GB" b="1" dirty="0"/>
              <a:t>letter and its corresponding </a:t>
            </a:r>
            <a:r>
              <a:rPr lang="en-GB" b="1" dirty="0" err="1"/>
              <a:t>matra</a:t>
            </a:r>
            <a:r>
              <a:rPr lang="en-GB" b="1" dirty="0"/>
              <a:t> symbol as a pair</a:t>
            </a:r>
            <a:r>
              <a:rPr lang="en-GB" dirty="0"/>
              <a:t>, one by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one pair active at a time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each active pair when its VO plays.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Follow this sequence: </a:t>
            </a:r>
            <a:r>
              <a:rPr lang="en-GB" b="1" dirty="0"/>
              <a:t>ए → ◌े</a:t>
            </a:r>
            <a:r>
              <a:rPr lang="en-GB" dirty="0"/>
              <a:t>, then </a:t>
            </a:r>
            <a:r>
              <a:rPr lang="en-GB" b="1" dirty="0"/>
              <a:t>ऐ → ◌ै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possible, show each pair inside a train-style card or bogie to maintain the train theme.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</a:t>
            </a:r>
            <a:r>
              <a:rPr lang="en-GB" b="1" dirty="0"/>
              <a:t>ए</a:t>
            </a:r>
            <a:r>
              <a:rPr lang="en-GB" dirty="0"/>
              <a:t> appears, then </a:t>
            </a:r>
            <a:r>
              <a:rPr lang="en-GB" b="1" dirty="0"/>
              <a:t>◌े</a:t>
            </a:r>
            <a:r>
              <a:rPr lang="en-GB" dirty="0"/>
              <a:t> appears beside it with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its VO finishes, dim the first pair slightly.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ऐ</a:t>
            </a:r>
            <a:r>
              <a:rPr lang="en-GB" dirty="0"/>
              <a:t> appears, followed by </a:t>
            </a:r>
            <a:r>
              <a:rPr lang="en-GB" b="1" dirty="0"/>
              <a:t>◌ै</a:t>
            </a:r>
            <a:r>
              <a:rPr lang="en-GB" dirty="0"/>
              <a:t> beside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 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simple pop/fade animations,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child-friendly, without extra decorative elements.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pop/chime when each </a:t>
            </a:r>
            <a:r>
              <a:rPr lang="en-GB" dirty="0" err="1"/>
              <a:t>matra</a:t>
            </a:r>
            <a:r>
              <a:rPr lang="en-GB" dirty="0"/>
              <a:t> symbol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VO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pairs have been shown and spoken.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slide introduces the two </a:t>
            </a:r>
            <a:r>
              <a:rPr lang="en-GB" dirty="0" err="1"/>
              <a:t>matras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should clearly connect </a:t>
            </a:r>
            <a:r>
              <a:rPr lang="en-GB" b="1" dirty="0"/>
              <a:t>ए → ◌े</a:t>
            </a:r>
            <a:r>
              <a:rPr lang="en-GB" dirty="0"/>
              <a:t> and </a:t>
            </a:r>
            <a:r>
              <a:rPr lang="en-GB" b="1" dirty="0"/>
              <a:t>ऐ → ◌ै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them as </a:t>
            </a: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 and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 Do not use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only helps display the </a:t>
            </a:r>
            <a:r>
              <a:rPr lang="en-GB" dirty="0" err="1"/>
              <a:t>matra</a:t>
            </a:r>
            <a:r>
              <a:rPr lang="en-GB" dirty="0"/>
              <a:t>; it is not part of the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only these two pairs to keep the screen focused.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82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</a:t>
            </a:r>
            <a:r>
              <a:rPr lang="en-GB" b="1" dirty="0" err="1"/>
              <a:t>देखें</a:t>
            </a:r>
            <a:r>
              <a:rPr lang="en-GB" b="1" dirty="0"/>
              <a:t> </a:t>
            </a:r>
            <a:r>
              <a:rPr lang="en-GB" b="1" dirty="0" err="1"/>
              <a:t>कि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आवाज़</a:t>
            </a:r>
            <a:r>
              <a:rPr lang="en-GB" b="1" dirty="0"/>
              <a:t> </a:t>
            </a:r>
            <a:r>
              <a:rPr lang="en-GB" b="1" dirty="0" err="1"/>
              <a:t>कैसे</a:t>
            </a:r>
            <a:r>
              <a:rPr lang="en-GB" b="1" dirty="0"/>
              <a:t> </a:t>
            </a:r>
            <a:r>
              <a:rPr lang="en-GB" b="1" dirty="0" err="1"/>
              <a:t>बदलती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सब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“स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अंत</a:t>
            </a:r>
            <a:r>
              <a:rPr lang="en-GB" dirty="0"/>
              <a:t> </a:t>
            </a:r>
            <a:r>
              <a:rPr lang="en-GB" dirty="0" err="1"/>
              <a:t>में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‘ब’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सेब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focused on </a:t>
            </a:r>
            <a:r>
              <a:rPr lang="en-GB" b="1" dirty="0"/>
              <a:t>one word transformation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सब</a:t>
            </a:r>
            <a:r>
              <a:rPr lang="en-GB" dirty="0"/>
              <a:t> clearly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Below or beside </a:t>
            </a:r>
            <a:r>
              <a:rPr lang="en-GB" b="1" dirty="0" err="1"/>
              <a:t>सब</a:t>
            </a:r>
            <a:r>
              <a:rPr lang="en-GB" dirty="0"/>
              <a:t>, show </a:t>
            </a:r>
            <a:r>
              <a:rPr lang="en-GB" b="1" dirty="0"/>
              <a:t>three children standing together</a:t>
            </a:r>
            <a:r>
              <a:rPr lang="en-GB" dirty="0"/>
              <a:t>. Enclose the whole group within one soft outline to communicate </a:t>
            </a:r>
            <a:r>
              <a:rPr lang="en-GB" b="1" dirty="0"/>
              <a:t>“</a:t>
            </a:r>
            <a:r>
              <a:rPr lang="en-GB" b="1" dirty="0" err="1"/>
              <a:t>सब</a:t>
            </a:r>
            <a:r>
              <a:rPr lang="en-GB" b="1" dirty="0"/>
              <a:t>” / “all”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children equally visible. Do not highlight only one child.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the centre, show: </a:t>
            </a:r>
            <a:r>
              <a:rPr lang="en-GB" b="1" dirty="0"/>
              <a:t>स + ◌े = </a:t>
            </a:r>
            <a:r>
              <a:rPr lang="en-GB" b="1" dirty="0" err="1"/>
              <a:t>से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े </a:t>
            </a:r>
            <a:r>
              <a:rPr lang="en-GB" b="1" dirty="0" err="1"/>
              <a:t>मात्रा</a:t>
            </a:r>
            <a:r>
              <a:rPr lang="en-GB" dirty="0"/>
              <a:t> in red when it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that, show the final word: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सेब</a:t>
            </a:r>
            <a:r>
              <a:rPr lang="en-GB" dirty="0"/>
              <a:t>, highlight only </a:t>
            </a:r>
            <a:r>
              <a:rPr lang="en-GB" b="1" dirty="0"/>
              <a:t>े</a:t>
            </a:r>
            <a:r>
              <a:rPr lang="en-GB" dirty="0"/>
              <a:t> in red so the child notices its position above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clear </a:t>
            </a:r>
            <a:r>
              <a:rPr lang="en-GB" b="1" dirty="0"/>
              <a:t>apple image</a:t>
            </a:r>
            <a:r>
              <a:rPr lang="en-GB" dirty="0"/>
              <a:t> below or beside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clean. Avoid unnecessary explanatory text beneath the cards.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सब</a:t>
            </a:r>
            <a:r>
              <a:rPr lang="en-GB" b="1" dirty="0"/>
              <a:t>:</a:t>
            </a:r>
            <a:r>
              <a:rPr lang="en-GB" dirty="0"/>
              <a:t> A simple, child-friendly illustration of three children standing together. Use one soft outline around the entire group to indicate that </a:t>
            </a:r>
            <a:r>
              <a:rPr lang="en-GB" b="1" dirty="0" err="1"/>
              <a:t>सब</a:t>
            </a:r>
            <a:r>
              <a:rPr lang="en-GB" dirty="0"/>
              <a:t> refers to all of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r>
              <a:rPr lang="en-GB" b="1" dirty="0"/>
              <a:t>:</a:t>
            </a:r>
            <a:r>
              <a:rPr lang="en-GB" dirty="0"/>
              <a:t> A single, recognisable red apple.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 illustration style for both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group image associated with </a:t>
            </a:r>
            <a:r>
              <a:rPr lang="en-GB" b="1" dirty="0" err="1"/>
              <a:t>सब</a:t>
            </a:r>
            <a:r>
              <a:rPr lang="en-GB" dirty="0"/>
              <a:t> and the apple associated with </a:t>
            </a:r>
            <a:r>
              <a:rPr lang="en-GB" b="1" dirty="0" err="1"/>
              <a:t>सेब</a:t>
            </a:r>
            <a:r>
              <a:rPr lang="en-GB" dirty="0"/>
              <a:t>. Do not animate the children changing into an apple.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सब</a:t>
            </a:r>
            <a:r>
              <a:rPr lang="en-GB" dirty="0"/>
              <a:t> appears on the left.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group-of-children image appears below or beside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सब</a:t>
            </a:r>
            <a:r>
              <a:rPr lang="en-GB" b="1" dirty="0"/>
              <a:t>। </a:t>
            </a:r>
            <a:r>
              <a:rPr lang="en-GB" b="1" dirty="0" err="1"/>
              <a:t>ये</a:t>
            </a:r>
            <a:r>
              <a:rPr lang="en-GB" b="1" dirty="0"/>
              <a:t> </a:t>
            </a:r>
            <a:r>
              <a:rPr lang="en-GB" b="1" dirty="0" err="1"/>
              <a:t>सब</a:t>
            </a:r>
            <a:r>
              <a:rPr lang="en-GB" b="1" dirty="0"/>
              <a:t> 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Briefly highlight the whole group together.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</a:t>
            </a:r>
            <a:r>
              <a:rPr lang="en-GB" b="1" dirty="0"/>
              <a:t>स</a:t>
            </a:r>
            <a:r>
              <a:rPr lang="en-GB" dirty="0"/>
              <a:t> in </a:t>
            </a:r>
            <a:r>
              <a:rPr lang="en-GB" b="1" dirty="0" err="1"/>
              <a:t>सब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Show </a:t>
            </a:r>
            <a:r>
              <a:rPr lang="en-GB" b="1" dirty="0"/>
              <a:t>स + ◌े = </a:t>
            </a:r>
            <a:r>
              <a:rPr lang="en-GB" b="1" dirty="0" err="1"/>
              <a:t>से</a:t>
            </a:r>
            <a:r>
              <a:rPr lang="en-GB" dirty="0"/>
              <a:t> in the centre.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“स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</a:t>
            </a:r>
            <a:r>
              <a:rPr lang="en-GB" b="1" dirty="0"/>
              <a:t>े</a:t>
            </a:r>
            <a:r>
              <a:rPr lang="en-GB" dirty="0"/>
              <a:t> into its correct position above </a:t>
            </a:r>
            <a:r>
              <a:rPr lang="en-GB" b="1" dirty="0"/>
              <a:t>स</a:t>
            </a:r>
            <a:r>
              <a:rPr lang="en-GB" dirty="0"/>
              <a:t>, forming </a:t>
            </a:r>
            <a:r>
              <a:rPr lang="en-GB" b="1" dirty="0" err="1"/>
              <a:t>से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Then </a:t>
            </a:r>
            <a:r>
              <a:rPr lang="en-GB" b="1" dirty="0"/>
              <a:t>ब</a:t>
            </a:r>
            <a:r>
              <a:rPr lang="en-GB" dirty="0"/>
              <a:t> joins.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‘ब’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सेब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final word </a:t>
            </a:r>
            <a:r>
              <a:rPr lang="en-GB" b="1" dirty="0" err="1"/>
              <a:t>सेब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 inside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apple image appears below or beside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simple step-by-step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all stages together at the beginning.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reveal </a:t>
            </a:r>
            <a:r>
              <a:rPr lang="en-GB" b="1" dirty="0" err="1"/>
              <a:t>सब</a:t>
            </a:r>
            <a:r>
              <a:rPr lang="en-GB" dirty="0"/>
              <a:t> and its group image with a soft fade.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whole group when the VO says </a:t>
            </a:r>
            <a:r>
              <a:rPr lang="en-GB" b="1" dirty="0"/>
              <a:t>“</a:t>
            </a:r>
            <a:r>
              <a:rPr lang="en-GB" b="1" dirty="0" err="1"/>
              <a:t>ये</a:t>
            </a:r>
            <a:r>
              <a:rPr lang="en-GB" b="1" dirty="0"/>
              <a:t> </a:t>
            </a:r>
            <a:r>
              <a:rPr lang="en-GB" b="1" dirty="0" err="1"/>
              <a:t>सब</a:t>
            </a:r>
            <a:r>
              <a:rPr lang="en-GB" b="1" dirty="0"/>
              <a:t> </a:t>
            </a:r>
            <a:r>
              <a:rPr lang="en-GB" b="1" dirty="0" err="1"/>
              <a:t>बच्चे</a:t>
            </a:r>
            <a:r>
              <a:rPr lang="en-GB" b="1" dirty="0"/>
              <a:t> </a:t>
            </a:r>
            <a:r>
              <a:rPr lang="en-GB" b="1" dirty="0" err="1"/>
              <a:t>हैं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shift attention to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े </a:t>
            </a:r>
            <a:r>
              <a:rPr lang="en-GB" b="1" dirty="0" err="1"/>
              <a:t>मात्रा</a:t>
            </a:r>
            <a:r>
              <a:rPr lang="en-GB" dirty="0"/>
              <a:t> should softly slide into its correct position above </a:t>
            </a:r>
            <a:r>
              <a:rPr lang="en-GB" b="1" dirty="0"/>
              <a:t>स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Visually transform </a:t>
            </a:r>
            <a:r>
              <a:rPr lang="en-GB" b="1" dirty="0"/>
              <a:t>स → </a:t>
            </a:r>
            <a:r>
              <a:rPr lang="en-GB" b="1" dirty="0" err="1"/>
              <a:t>से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ब</a:t>
            </a:r>
            <a:r>
              <a:rPr lang="en-GB" dirty="0"/>
              <a:t> slides in to form </a:t>
            </a:r>
            <a:r>
              <a:rPr lang="en-GB" b="1" dirty="0" err="1"/>
              <a:t>से</a:t>
            </a:r>
            <a:r>
              <a:rPr lang="en-GB" b="1" dirty="0"/>
              <a:t> + ब =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Reveal the apple image only after </a:t>
            </a:r>
            <a:r>
              <a:rPr lang="en-GB" b="1" dirty="0" err="1"/>
              <a:t>सेब</a:t>
            </a:r>
            <a:r>
              <a:rPr lang="en-GB" dirty="0"/>
              <a:t>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Sound Differentiation:</a:t>
            </a:r>
            <a:endParaRPr lang="en-GB" dirty="0"/>
          </a:p>
          <a:p>
            <a:r>
              <a:rPr lang="en-GB" dirty="0"/>
              <a:t>Make the pronunciation difference clear:</a:t>
            </a:r>
          </a:p>
          <a:p>
            <a:r>
              <a:rPr lang="en-GB" b="1" dirty="0"/>
              <a:t>स → </a:t>
            </a:r>
            <a:r>
              <a:rPr lang="en-GB" b="1" dirty="0" err="1"/>
              <a:t>से</a:t>
            </a:r>
            <a:r>
              <a:rPr lang="en-GB" b="1" dirty="0"/>
              <a:t> → </a:t>
            </a:r>
            <a:r>
              <a:rPr lang="en-GB" b="1" dirty="0" err="1"/>
              <a:t>सेब</a:t>
            </a:r>
            <a:endParaRPr lang="en-GB" dirty="0"/>
          </a:p>
          <a:p>
            <a:r>
              <a:rPr lang="en-GB" dirty="0"/>
              <a:t>Give a short pause between each sound so the child can hear how adding </a:t>
            </a:r>
            <a:r>
              <a:rPr lang="en-GB" b="1" dirty="0"/>
              <a:t>े</a:t>
            </a:r>
            <a:r>
              <a:rPr lang="en-GB" dirty="0"/>
              <a:t> changes the sound.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each image or the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chime when </a:t>
            </a:r>
            <a:r>
              <a:rPr lang="en-GB" b="1" dirty="0"/>
              <a:t>स</a:t>
            </a:r>
            <a:r>
              <a:rPr lang="en-GB" dirty="0"/>
              <a:t> changes to </a:t>
            </a:r>
            <a:r>
              <a:rPr lang="en-GB" b="1" dirty="0" err="1"/>
              <a:t>से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small success sound when </a:t>
            </a:r>
            <a:r>
              <a:rPr lang="en-GB" b="1" dirty="0" err="1"/>
              <a:t>सेब</a:t>
            </a:r>
            <a:r>
              <a:rPr lang="en-GB" dirty="0"/>
              <a:t> is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pronunciation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complete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सब</a:t>
            </a:r>
            <a:r>
              <a:rPr lang="en-GB" dirty="0"/>
              <a:t> and its meaning have been introduced, </a:t>
            </a:r>
            <a:r>
              <a:rPr lang="en-GB" b="1" dirty="0"/>
              <a:t>स → </a:t>
            </a:r>
            <a:r>
              <a:rPr lang="en-GB" b="1" dirty="0" err="1"/>
              <a:t>से</a:t>
            </a:r>
            <a:r>
              <a:rPr lang="en-GB" b="1" dirty="0"/>
              <a:t> → </a:t>
            </a:r>
            <a:r>
              <a:rPr lang="en-GB" b="1" dirty="0" err="1"/>
              <a:t>सेब</a:t>
            </a:r>
            <a:r>
              <a:rPr lang="en-GB" dirty="0"/>
              <a:t> has been demonstrated, and the apple image has appeared.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Use: </a:t>
            </a:r>
            <a:r>
              <a:rPr lang="en-GB" b="1" dirty="0"/>
              <a:t>“स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से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it as </a:t>
            </a: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without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 Keep the consonant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in </a:t>
            </a:r>
            <a:r>
              <a:rPr lang="en-GB" b="1" dirty="0"/>
              <a:t>◌े</a:t>
            </a:r>
            <a:r>
              <a:rPr lang="en-GB" dirty="0"/>
              <a:t> is a display aid. It should disappear when the </a:t>
            </a:r>
            <a:r>
              <a:rPr lang="en-GB" dirty="0" err="1"/>
              <a:t>matra</a:t>
            </a:r>
            <a:r>
              <a:rPr lang="en-GB" dirty="0"/>
              <a:t> joins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key visual learning should remain:</a:t>
            </a:r>
          </a:p>
          <a:p>
            <a:r>
              <a:rPr lang="en-GB" b="1" dirty="0" err="1"/>
              <a:t>सब</a:t>
            </a:r>
            <a:r>
              <a:rPr lang="en-GB" b="1" dirty="0"/>
              <a:t> (all children) → स + ◌े = </a:t>
            </a:r>
            <a:r>
              <a:rPr lang="en-GB" b="1" dirty="0" err="1"/>
              <a:t>से</a:t>
            </a:r>
            <a:r>
              <a:rPr lang="en-GB" b="1" dirty="0"/>
              <a:t> → </a:t>
            </a:r>
            <a:r>
              <a:rPr lang="en-GB" b="1" dirty="0" err="1"/>
              <a:t>सेब</a:t>
            </a:r>
            <a:r>
              <a:rPr lang="en-GB" b="1" dirty="0"/>
              <a:t> (apple)</a:t>
            </a:r>
            <a:endParaRPr lang="en-GB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663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कुछ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देखें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खेल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इसमें</a:t>
            </a:r>
            <a:r>
              <a:rPr lang="en-GB" b="1" dirty="0"/>
              <a:t> ख </a:t>
            </a:r>
            <a:r>
              <a:rPr lang="en-GB" b="1" dirty="0" err="1"/>
              <a:t>पर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इसमें</a:t>
            </a:r>
            <a:r>
              <a:rPr lang="en-GB" b="1" dirty="0"/>
              <a:t> प </a:t>
            </a:r>
            <a:r>
              <a:rPr lang="en-GB" b="1" dirty="0" err="1"/>
              <a:t>पर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one example visible at a time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खेल</a:t>
            </a:r>
            <a:r>
              <a:rPr lang="en-GB" dirty="0"/>
              <a:t>, followed by a clear </a:t>
            </a:r>
            <a:r>
              <a:rPr lang="en-GB" b="1" dirty="0"/>
              <a:t>picture of children playing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े </a:t>
            </a:r>
            <a:r>
              <a:rPr lang="en-GB" b="1" dirty="0" err="1"/>
              <a:t>मात्रा</a:t>
            </a:r>
            <a:r>
              <a:rPr lang="en-GB" dirty="0"/>
              <a:t> above </a:t>
            </a:r>
            <a:r>
              <a:rPr lang="en-GB" b="1" dirty="0"/>
              <a:t>ख</a:t>
            </a:r>
            <a:r>
              <a:rPr lang="en-GB" dirty="0"/>
              <a:t> in </a:t>
            </a:r>
            <a:r>
              <a:rPr lang="en-GB" b="1" dirty="0" err="1"/>
              <a:t>खेल</a:t>
            </a:r>
            <a:r>
              <a:rPr lang="en-GB" dirty="0"/>
              <a:t>, 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first example finishes, show </a:t>
            </a:r>
            <a:r>
              <a:rPr lang="en-GB" b="1" dirty="0" err="1"/>
              <a:t>पेड़</a:t>
            </a:r>
            <a:r>
              <a:rPr lang="en-GB" dirty="0"/>
              <a:t>, followed by a clear </a:t>
            </a:r>
            <a:r>
              <a:rPr lang="en-GB" b="1" dirty="0"/>
              <a:t>tree image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े </a:t>
            </a:r>
            <a:r>
              <a:rPr lang="en-GB" b="1" dirty="0" err="1"/>
              <a:t>मात्रा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 in </a:t>
            </a:r>
            <a:r>
              <a:rPr lang="en-GB" b="1" dirty="0" err="1"/>
              <a:t>पेड़</a:t>
            </a:r>
            <a:r>
              <a:rPr lang="en-GB" dirty="0"/>
              <a:t>, using the same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retaining the </a:t>
            </a:r>
            <a:r>
              <a:rPr lang="en-GB" b="1" dirty="0"/>
              <a:t>“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”</a:t>
            </a:r>
            <a:r>
              <a:rPr lang="en-GB" dirty="0"/>
              <a:t> label, show </a:t>
            </a:r>
            <a:r>
              <a:rPr lang="en-GB" b="1" dirty="0"/>
              <a:t>◌े</a:t>
            </a:r>
            <a:r>
              <a:rPr lang="en-GB" dirty="0"/>
              <a:t> for both examples.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खेल</a:t>
            </a:r>
            <a:r>
              <a:rPr lang="en-GB" b="1" dirty="0"/>
              <a:t>:</a:t>
            </a:r>
            <a:r>
              <a:rPr lang="en-GB" dirty="0"/>
              <a:t> A simple illustration of children playing with a ball. Show the playing action clearly, rather than only the ball. Keep the background free of distractions.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r>
              <a:rPr lang="en-GB" b="1" dirty="0"/>
              <a:t>:</a:t>
            </a:r>
            <a:r>
              <a:rPr lang="en-GB" dirty="0"/>
              <a:t> A complete tree with a clearly visible trunk and green canopy.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 for both images.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खेल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picture of children playing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खेल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इसमें</a:t>
            </a:r>
            <a:r>
              <a:rPr lang="en-GB" b="1" dirty="0"/>
              <a:t> ख </a:t>
            </a:r>
            <a:r>
              <a:rPr lang="en-GB" b="1" dirty="0" err="1"/>
              <a:t>पर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 in </a:t>
            </a:r>
            <a:r>
              <a:rPr lang="en-GB" b="1" dirty="0" err="1"/>
              <a:t>खेल</a:t>
            </a:r>
            <a:r>
              <a:rPr lang="en-GB" dirty="0"/>
              <a:t>, synchronised with the explanation.</a:t>
            </a:r>
          </a:p>
          <a:p>
            <a:pPr>
              <a:buFont typeface="+mj-lt"/>
              <a:buAutoNum type="arabicPeriod"/>
            </a:pPr>
            <a:r>
              <a:rPr lang="en-GB" dirty="0"/>
              <a:t>Fade out the first example.</a:t>
            </a:r>
          </a:p>
          <a:p>
            <a:pPr>
              <a:buFont typeface="+mj-lt"/>
              <a:buAutoNum type="arabicPeriod"/>
            </a:pPr>
            <a:r>
              <a:rPr lang="en-GB" b="1" dirty="0" err="1"/>
              <a:t>पेड़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tree image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— </a:t>
            </a:r>
            <a:r>
              <a:rPr lang="en-GB" b="1" dirty="0" err="1"/>
              <a:t>बोलकर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इसमें</a:t>
            </a:r>
            <a:r>
              <a:rPr lang="en-GB" b="1" dirty="0"/>
              <a:t> प </a:t>
            </a:r>
            <a:r>
              <a:rPr lang="en-GB" b="1" dirty="0" err="1"/>
              <a:t>पर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 in </a:t>
            </a:r>
            <a:r>
              <a:rPr lang="en-GB" b="1" dirty="0" err="1"/>
              <a:t>पेड़</a:t>
            </a:r>
            <a:r>
              <a:rPr lang="en-GB" dirty="0"/>
              <a:t>, synchronised with the explanation.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word first, followed by its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simple </a:t>
            </a:r>
            <a:r>
              <a:rPr lang="en-GB" b="1" dirty="0"/>
              <a:t>fade/pop-in animations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the VO explains the </a:t>
            </a:r>
            <a:r>
              <a:rPr lang="en-GB" dirty="0" err="1"/>
              <a:t>matra</a:t>
            </a:r>
            <a:r>
              <a:rPr lang="en-GB" dirty="0"/>
              <a:t>, softly highlight </a:t>
            </a:r>
            <a:r>
              <a:rPr lang="en-GB" b="1" dirty="0"/>
              <a:t>े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dot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Complete one example before introducing the next.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the word or image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chime when the </a:t>
            </a:r>
            <a:r>
              <a:rPr lang="en-GB" dirty="0" err="1"/>
              <a:t>matra</a:t>
            </a:r>
            <a:r>
              <a:rPr lang="en-GB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VO and pronunciation remain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explanation.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examples and their VO sequences finish.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the correct spellings: </a:t>
            </a:r>
            <a:r>
              <a:rPr lang="en-GB" b="1" dirty="0" err="1"/>
              <a:t>खेल</a:t>
            </a:r>
            <a:r>
              <a:rPr lang="en-GB" dirty="0"/>
              <a:t> and </a:t>
            </a:r>
            <a:r>
              <a:rPr lang="en-GB" b="1" dirty="0" err="1"/>
              <a:t>पेड़</a:t>
            </a:r>
            <a:r>
              <a:rPr lang="en-GB" dirty="0"/>
              <a:t>, including the </a:t>
            </a:r>
            <a:r>
              <a:rPr lang="en-GB" dirty="0" err="1"/>
              <a:t>nukta</a:t>
            </a:r>
            <a:r>
              <a:rPr lang="en-GB" dirty="0"/>
              <a:t> in </a:t>
            </a:r>
            <a:r>
              <a:rPr lang="en-GB" b="1" dirty="0" err="1"/>
              <a:t>पेड़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, not the </a:t>
            </a:r>
            <a:r>
              <a:rPr lang="en-GB" dirty="0" err="1"/>
              <a:t>nukta</a:t>
            </a:r>
            <a:r>
              <a:rPr lang="en-GB" dirty="0"/>
              <a:t> under </a:t>
            </a:r>
            <a:r>
              <a:rPr lang="en-GB" b="1" dirty="0" err="1"/>
              <a:t>ड़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learning focus is recognising </a:t>
            </a: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 in both words: </a:t>
            </a:r>
            <a:r>
              <a:rPr lang="en-GB" b="1" dirty="0" err="1"/>
              <a:t>खेल</a:t>
            </a:r>
            <a:r>
              <a:rPr lang="en-GB" b="1" dirty="0"/>
              <a:t>, </a:t>
            </a:r>
            <a:r>
              <a:rPr lang="en-GB" b="1" dirty="0" err="1"/>
              <a:t>पेड़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279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आइए</a:t>
            </a:r>
            <a:r>
              <a:rPr lang="en-GB" b="1" dirty="0"/>
              <a:t>, </a:t>
            </a:r>
            <a:r>
              <a:rPr lang="en-GB" b="1" dirty="0" err="1"/>
              <a:t>देखें</a:t>
            </a:r>
            <a:r>
              <a:rPr lang="en-GB" b="1" dirty="0"/>
              <a:t> </a:t>
            </a:r>
            <a:r>
              <a:rPr lang="en-GB" b="1" dirty="0" err="1"/>
              <a:t>कि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आवाज़</a:t>
            </a:r>
            <a:r>
              <a:rPr lang="en-GB" b="1" dirty="0"/>
              <a:t> </a:t>
            </a:r>
            <a:r>
              <a:rPr lang="en-GB" b="1" dirty="0" err="1"/>
              <a:t>कैसे</a:t>
            </a:r>
            <a:r>
              <a:rPr lang="en-GB" b="1" dirty="0"/>
              <a:t> </a:t>
            </a:r>
            <a:r>
              <a:rPr lang="en-GB" b="1" dirty="0" err="1"/>
              <a:t>बदलती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पहले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पर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किताब</a:t>
            </a:r>
            <a:r>
              <a:rPr lang="en-GB" b="1" dirty="0"/>
              <a:t> </a:t>
            </a:r>
            <a:r>
              <a:rPr lang="en-GB" b="1" dirty="0" err="1"/>
              <a:t>रखी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फिर</a:t>
            </a:r>
            <a:r>
              <a:rPr lang="en-GB" dirty="0"/>
              <a:t>:</a:t>
            </a:r>
          </a:p>
          <a:p>
            <a:r>
              <a:rPr lang="en-GB" b="1" dirty="0"/>
              <a:t>“प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 err="1"/>
              <a:t>अंत</a:t>
            </a:r>
            <a:r>
              <a:rPr lang="en-GB" dirty="0"/>
              <a:t> </a:t>
            </a:r>
            <a:r>
              <a:rPr lang="en-GB" dirty="0" err="1"/>
              <a:t>में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‘र’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पैर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focused on </a:t>
            </a:r>
            <a:r>
              <a:rPr lang="en-GB" b="1" dirty="0"/>
              <a:t>one word transformation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show </a:t>
            </a:r>
            <a:r>
              <a:rPr lang="en-GB" b="1" dirty="0" err="1"/>
              <a:t>पर</a:t>
            </a:r>
            <a:r>
              <a:rPr lang="en-GB" dirty="0"/>
              <a:t> clearly on the left.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Below or beside </a:t>
            </a:r>
            <a:r>
              <a:rPr lang="en-GB" b="1" dirty="0" err="1"/>
              <a:t>पर</a:t>
            </a:r>
            <a:r>
              <a:rPr lang="en-GB" dirty="0"/>
              <a:t>, show a </a:t>
            </a:r>
            <a:r>
              <a:rPr lang="en-GB" b="1" dirty="0"/>
              <a:t>book resting on a table</a:t>
            </a:r>
            <a:r>
              <a:rPr lang="en-GB" dirty="0"/>
              <a:t> to explain “</a:t>
            </a:r>
            <a:r>
              <a:rPr lang="en-GB" dirty="0" err="1"/>
              <a:t>पर</a:t>
            </a:r>
            <a:r>
              <a:rPr lang="en-GB" dirty="0"/>
              <a:t>” through a familiar situation.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the centre, show: </a:t>
            </a:r>
            <a:r>
              <a:rPr lang="en-GB" b="1" dirty="0"/>
              <a:t>प + ◌ै = </a:t>
            </a:r>
            <a:r>
              <a:rPr lang="en-GB" b="1" dirty="0" err="1"/>
              <a:t>पै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b="1" dirty="0"/>
              <a:t>ै </a:t>
            </a:r>
            <a:r>
              <a:rPr lang="en-GB" b="1" dirty="0" err="1"/>
              <a:t>मात्रा</a:t>
            </a:r>
            <a:r>
              <a:rPr lang="en-GB" dirty="0"/>
              <a:t> in red when it is introduced.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that, show the final word: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पैर</a:t>
            </a:r>
            <a:r>
              <a:rPr lang="en-GB" dirty="0"/>
              <a:t>, highlight both strokes of </a:t>
            </a:r>
            <a:r>
              <a:rPr lang="en-GB" b="1" dirty="0"/>
              <a:t>ै</a:t>
            </a:r>
            <a:r>
              <a:rPr lang="en-GB" dirty="0"/>
              <a:t> in red so the child notices its position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clear </a:t>
            </a:r>
            <a:r>
              <a:rPr lang="en-GB" b="1" dirty="0"/>
              <a:t>foot image</a:t>
            </a:r>
            <a:r>
              <a:rPr lang="en-GB" dirty="0"/>
              <a:t> below or beside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screen clean. Avoid unnecessary explanatory text beneath the cards.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पर</a:t>
            </a:r>
            <a:r>
              <a:rPr lang="en-GB" b="1" dirty="0"/>
              <a:t>:</a:t>
            </a:r>
            <a:r>
              <a:rPr lang="en-GB" dirty="0"/>
              <a:t> A simple illustration of a book resting directly on a table. Keep the tabletop and book clearly visible, with no other objects competing for attention.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A recognisable bare foot, including the toes and a small portion of the ankle.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consistent, child-friendly illustration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each image associated with its word. Do not animate the table or book changing into a foot.</a:t>
            </a:r>
          </a:p>
          <a:p>
            <a:r>
              <a:rPr lang="en-GB" b="1" dirty="0"/>
              <a:t>Sequence: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 err="1"/>
              <a:t>पर</a:t>
            </a:r>
            <a:r>
              <a:rPr lang="en-GB" dirty="0"/>
              <a:t> appears on the left.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book-on-table image appears below or beside it.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 — </a:t>
            </a:r>
            <a:r>
              <a:rPr lang="en-GB" b="1" dirty="0" err="1"/>
              <a:t>पर</a:t>
            </a:r>
            <a:r>
              <a:rPr lang="en-GB" b="1" dirty="0"/>
              <a:t>।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किताब</a:t>
            </a:r>
            <a:r>
              <a:rPr lang="en-GB" b="1" dirty="0"/>
              <a:t> </a:t>
            </a:r>
            <a:r>
              <a:rPr lang="en-GB" b="1" dirty="0" err="1"/>
              <a:t>रखी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Briefly highlight the book resting on the tabletop to reinforce </a:t>
            </a:r>
            <a:r>
              <a:rPr lang="en-GB" b="1" dirty="0" err="1"/>
              <a:t>पर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</a:t>
            </a:r>
            <a:r>
              <a:rPr lang="en-GB" b="1" dirty="0"/>
              <a:t>प</a:t>
            </a:r>
            <a:r>
              <a:rPr lang="en-GB" dirty="0"/>
              <a:t> in </a:t>
            </a:r>
            <a:r>
              <a:rPr lang="en-GB" b="1" dirty="0" err="1"/>
              <a:t>पर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Show </a:t>
            </a:r>
            <a:r>
              <a:rPr lang="en-GB" b="1" dirty="0"/>
              <a:t>प + ◌ै = </a:t>
            </a:r>
            <a:r>
              <a:rPr lang="en-GB" b="1" dirty="0" err="1"/>
              <a:t>पै</a:t>
            </a:r>
            <a:r>
              <a:rPr lang="en-GB" dirty="0"/>
              <a:t> in the centre.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“प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Move </a:t>
            </a:r>
            <a:r>
              <a:rPr lang="en-GB" b="1" dirty="0"/>
              <a:t>ै</a:t>
            </a:r>
            <a:r>
              <a:rPr lang="en-GB" dirty="0"/>
              <a:t> into its correct position above </a:t>
            </a:r>
            <a:r>
              <a:rPr lang="en-GB" b="1" dirty="0"/>
              <a:t>प</a:t>
            </a:r>
            <a:r>
              <a:rPr lang="en-GB" dirty="0"/>
              <a:t>, forming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Then </a:t>
            </a:r>
            <a:r>
              <a:rPr lang="en-GB" b="1" dirty="0"/>
              <a:t>र</a:t>
            </a:r>
            <a:r>
              <a:rPr lang="en-GB" dirty="0"/>
              <a:t> joins.</a:t>
            </a:r>
          </a:p>
          <a:p>
            <a:pPr>
              <a:buFont typeface="+mj-lt"/>
              <a:buAutoNum type="arabicPeriod"/>
            </a:pPr>
            <a:r>
              <a:rPr lang="en-GB" dirty="0"/>
              <a:t>VO: </a:t>
            </a:r>
            <a:r>
              <a:rPr lang="en-GB" b="1" dirty="0"/>
              <a:t>“</a:t>
            </a:r>
            <a:r>
              <a:rPr lang="en-GB" b="1" dirty="0" err="1"/>
              <a:t>अब</a:t>
            </a:r>
            <a:r>
              <a:rPr lang="en-GB" b="1" dirty="0"/>
              <a:t> ‘र’ </a:t>
            </a:r>
            <a:r>
              <a:rPr lang="en-GB" b="1" dirty="0" err="1"/>
              <a:t>जुड़ने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पैर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The final word </a:t>
            </a:r>
            <a:r>
              <a:rPr lang="en-GB" b="1" dirty="0" err="1"/>
              <a:t>पैर</a:t>
            </a:r>
            <a:r>
              <a:rPr lang="en-GB" dirty="0"/>
              <a:t> appears.</a:t>
            </a:r>
          </a:p>
          <a:p>
            <a:pPr>
              <a:buFont typeface="+mj-lt"/>
              <a:buAutoNum type="arabicPeriod"/>
            </a:pPr>
            <a:r>
              <a:rPr lang="en-GB" dirty="0"/>
              <a:t>Highlight only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+mj-lt"/>
              <a:buAutoNum type="arabicPeriod"/>
            </a:pPr>
            <a:r>
              <a:rPr lang="en-GB" dirty="0"/>
              <a:t>The foot image appears below or beside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r>
              <a:rPr lang="en-GB" b="1" dirty="0"/>
              <a:t>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simple step-by-step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all stages together at the beginning.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reveal </a:t>
            </a:r>
            <a:r>
              <a:rPr lang="en-GB" b="1" dirty="0" err="1"/>
              <a:t>पर</a:t>
            </a:r>
            <a:r>
              <a:rPr lang="en-GB" dirty="0"/>
              <a:t> and its image with a soft fade.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book’s position when the VO says </a:t>
            </a:r>
            <a:r>
              <a:rPr lang="en-GB" b="1" dirty="0"/>
              <a:t>“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किताब</a:t>
            </a:r>
            <a:r>
              <a:rPr lang="en-GB" b="1" dirty="0"/>
              <a:t> </a:t>
            </a:r>
            <a:r>
              <a:rPr lang="en-GB" b="1" dirty="0" err="1"/>
              <a:t>रखी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shift attention to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b="1" dirty="0"/>
              <a:t>ै </a:t>
            </a:r>
            <a:r>
              <a:rPr lang="en-GB" b="1" dirty="0" err="1"/>
              <a:t>मात्रा</a:t>
            </a:r>
            <a:r>
              <a:rPr lang="en-GB" dirty="0"/>
              <a:t> should softly slide into its correct position above </a:t>
            </a:r>
            <a:r>
              <a:rPr lang="en-GB" b="1" dirty="0"/>
              <a:t>प</a:t>
            </a:r>
            <a:r>
              <a:rPr lang="en-GB" dirty="0"/>
              <a:t>, synchronised with the VO.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Visually transform </a:t>
            </a:r>
            <a:r>
              <a:rPr lang="en-GB" b="1" dirty="0"/>
              <a:t>प →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Then </a:t>
            </a:r>
            <a:r>
              <a:rPr lang="en-GB" b="1" dirty="0"/>
              <a:t>र</a:t>
            </a:r>
            <a:r>
              <a:rPr lang="en-GB" dirty="0"/>
              <a:t> slides in to form </a:t>
            </a:r>
            <a:r>
              <a:rPr lang="en-GB" b="1" dirty="0" err="1"/>
              <a:t>पै</a:t>
            </a:r>
            <a:r>
              <a:rPr lang="en-GB" b="1" dirty="0"/>
              <a:t> + र =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Reveal the foot image only after </a:t>
            </a:r>
            <a:r>
              <a:rPr lang="en-GB" b="1" dirty="0" err="1"/>
              <a:t>पैर</a:t>
            </a:r>
            <a:r>
              <a:rPr lang="en-GB" dirty="0"/>
              <a:t>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animations subtle and child-friendly.</a:t>
            </a:r>
          </a:p>
          <a:p>
            <a:r>
              <a:rPr lang="en-GB" b="1" dirty="0"/>
              <a:t>Sound Differentiation:</a:t>
            </a:r>
            <a:endParaRPr lang="en-GB" dirty="0"/>
          </a:p>
          <a:p>
            <a:r>
              <a:rPr lang="en-GB" dirty="0"/>
              <a:t>Make the pronunciation difference clear:</a:t>
            </a:r>
          </a:p>
          <a:p>
            <a:r>
              <a:rPr lang="en-GB" b="1" dirty="0"/>
              <a:t>प → </a:t>
            </a:r>
            <a:r>
              <a:rPr lang="en-GB" b="1" dirty="0" err="1"/>
              <a:t>पै</a:t>
            </a:r>
            <a:r>
              <a:rPr lang="en-GB" b="1" dirty="0"/>
              <a:t> → </a:t>
            </a:r>
            <a:r>
              <a:rPr lang="en-GB" b="1" dirty="0" err="1"/>
              <a:t>पैर</a:t>
            </a:r>
            <a:endParaRPr lang="en-GB" dirty="0"/>
          </a:p>
          <a:p>
            <a:r>
              <a:rPr lang="en-GB" dirty="0"/>
              <a:t>Give a short pause between each sound so the child can hear how adding </a:t>
            </a:r>
            <a:r>
              <a:rPr lang="en-GB" b="1" dirty="0"/>
              <a:t>ै</a:t>
            </a:r>
            <a:r>
              <a:rPr lang="en-GB" dirty="0"/>
              <a:t> changes the sound.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soft pop when each image or the </a:t>
            </a:r>
            <a:r>
              <a:rPr lang="en-GB" dirty="0" err="1"/>
              <a:t>matra</a:t>
            </a:r>
            <a:r>
              <a:rPr lang="en-GB" dirty="0"/>
              <a:t>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light chime when </a:t>
            </a:r>
            <a:r>
              <a:rPr lang="en-GB" b="1" dirty="0"/>
              <a:t>प</a:t>
            </a:r>
            <a:r>
              <a:rPr lang="en-GB" dirty="0"/>
              <a:t> changes to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Add a small success sound when </a:t>
            </a:r>
            <a:r>
              <a:rPr lang="en-GB" b="1" dirty="0" err="1"/>
              <a:t>पैर</a:t>
            </a:r>
            <a:r>
              <a:rPr lang="en-GB" dirty="0"/>
              <a:t> is completed.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subtle so the pronunciation remains clear.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</a:t>
            </a:r>
            <a:r>
              <a:rPr lang="en-GB" b="1" dirty="0" err="1"/>
              <a:t>आगे</a:t>
            </a:r>
            <a:r>
              <a:rPr lang="en-GB" dirty="0"/>
              <a:t> button disabled during the complete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</a:t>
            </a:r>
            <a:r>
              <a:rPr lang="en-GB" b="1" dirty="0" err="1"/>
              <a:t>पर</a:t>
            </a:r>
            <a:r>
              <a:rPr lang="en-GB" dirty="0"/>
              <a:t> and its meaning have been introduced, </a:t>
            </a:r>
            <a:r>
              <a:rPr lang="en-GB" b="1" dirty="0"/>
              <a:t>प → </a:t>
            </a:r>
            <a:r>
              <a:rPr lang="en-GB" b="1" dirty="0" err="1"/>
              <a:t>पै</a:t>
            </a:r>
            <a:r>
              <a:rPr lang="en-GB" b="1" dirty="0"/>
              <a:t> → </a:t>
            </a:r>
            <a:r>
              <a:rPr lang="en-GB" b="1" dirty="0" err="1"/>
              <a:t>पैर</a:t>
            </a:r>
            <a:r>
              <a:rPr lang="en-GB" dirty="0"/>
              <a:t> has been demonstrated, and the foot image has appeared.</a:t>
            </a:r>
          </a:p>
          <a:p>
            <a:r>
              <a:rPr lang="en-GB" b="1" dirty="0"/>
              <a:t>Note: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Use: </a:t>
            </a:r>
            <a:r>
              <a:rPr lang="en-GB" b="1" dirty="0"/>
              <a:t>“प </a:t>
            </a:r>
            <a:r>
              <a:rPr lang="en-GB" b="1" dirty="0" err="1"/>
              <a:t>के</a:t>
            </a:r>
            <a:r>
              <a:rPr lang="en-GB" b="1" dirty="0"/>
              <a:t> </a:t>
            </a:r>
            <a:r>
              <a:rPr lang="en-GB" b="1" dirty="0" err="1"/>
              <a:t>साथ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‘</a:t>
            </a:r>
            <a:r>
              <a:rPr lang="en-GB" b="1" dirty="0" err="1"/>
              <a:t>पै</a:t>
            </a:r>
            <a:r>
              <a:rPr lang="en-GB" b="1" dirty="0"/>
              <a:t>’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Refer to it as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, without “</a:t>
            </a:r>
            <a:r>
              <a:rPr lang="en-GB" dirty="0" err="1"/>
              <a:t>छोटी</a:t>
            </a:r>
            <a:r>
              <a:rPr lang="en-GB" dirty="0"/>
              <a:t>” or “</a:t>
            </a:r>
            <a:r>
              <a:rPr lang="en-GB" dirty="0" err="1"/>
              <a:t>बड़ी</a:t>
            </a:r>
            <a:r>
              <a:rPr lang="en-GB" dirty="0"/>
              <a:t>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both </a:t>
            </a:r>
            <a:r>
              <a:rPr lang="en-GB" dirty="0" err="1"/>
              <a:t>matra</a:t>
            </a:r>
            <a:r>
              <a:rPr lang="en-GB" dirty="0"/>
              <a:t> strokes in red. Keep the consonant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dotted circle in </a:t>
            </a:r>
            <a:r>
              <a:rPr lang="en-GB" b="1" dirty="0"/>
              <a:t>◌ै</a:t>
            </a:r>
            <a:r>
              <a:rPr lang="en-GB" dirty="0"/>
              <a:t> is a display aid. It should disappear when the </a:t>
            </a:r>
            <a:r>
              <a:rPr lang="en-GB" dirty="0" err="1"/>
              <a:t>matra</a:t>
            </a:r>
            <a:r>
              <a:rPr lang="en-GB" dirty="0"/>
              <a:t> joins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key visual learning should remain:</a:t>
            </a:r>
          </a:p>
          <a:p>
            <a:r>
              <a:rPr lang="en-GB" b="1" dirty="0" err="1"/>
              <a:t>पर</a:t>
            </a:r>
            <a:r>
              <a:rPr lang="en-GB" b="1" dirty="0"/>
              <a:t> (book on a table) → प + ◌ै = </a:t>
            </a:r>
            <a:r>
              <a:rPr lang="en-GB" b="1" dirty="0" err="1"/>
              <a:t>पै</a:t>
            </a:r>
            <a:r>
              <a:rPr lang="en-GB" b="1" dirty="0"/>
              <a:t> → </a:t>
            </a:r>
            <a:r>
              <a:rPr lang="en-GB" b="1" dirty="0" err="1"/>
              <a:t>पैर</a:t>
            </a:r>
            <a:r>
              <a:rPr lang="en-GB" b="1" dirty="0"/>
              <a:t> (foot)</a:t>
            </a:r>
            <a:endParaRPr lang="en-GB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690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Recommendation</a:t>
            </a:r>
            <a:endParaRPr lang="en-IN" dirty="0"/>
          </a:p>
          <a:p>
            <a:r>
              <a:rPr lang="en-IN" b="1" dirty="0"/>
              <a:t>VO:</a:t>
            </a:r>
            <a:endParaRPr lang="en-IN" dirty="0"/>
          </a:p>
          <a:p>
            <a:r>
              <a:rPr lang="en-IN" b="1" dirty="0"/>
              <a:t>“</a:t>
            </a:r>
            <a:r>
              <a:rPr lang="hi-IN" b="1" dirty="0"/>
              <a:t>आइए, ऐ की मात्रा वाले कुछ शब्द देखें।”</a:t>
            </a:r>
            <a:endParaRPr lang="hi-IN" dirty="0"/>
          </a:p>
          <a:p>
            <a:r>
              <a:rPr lang="hi-IN" dirty="0"/>
              <a:t>पहले:</a:t>
            </a:r>
          </a:p>
          <a:p>
            <a:r>
              <a:rPr lang="hi-IN" b="1" dirty="0"/>
              <a:t>“बैल — बोलकर देखिए। इसमें ब पर ऐ की मात्रा लगी है।”</a:t>
            </a:r>
            <a:endParaRPr lang="hi-IN" dirty="0"/>
          </a:p>
          <a:p>
            <a:r>
              <a:rPr lang="hi-IN" dirty="0"/>
              <a:t>फिर:</a:t>
            </a:r>
          </a:p>
          <a:p>
            <a:r>
              <a:rPr lang="hi-IN" b="1" dirty="0"/>
              <a:t>“पैसा — बोलकर देखिए। इसमें प पर ऐ की मात्रा लगी है।”</a:t>
            </a:r>
            <a:endParaRPr lang="hi-IN" dirty="0"/>
          </a:p>
          <a:p>
            <a:r>
              <a:rPr lang="en-IN" b="1" dirty="0"/>
              <a:t>On Screen: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heading: </a:t>
            </a:r>
            <a:r>
              <a:rPr lang="en-IN" b="1" dirty="0"/>
              <a:t>“</a:t>
            </a:r>
            <a:r>
              <a:rPr lang="hi-IN" b="1" dirty="0"/>
              <a:t>ऐ की मात्रा वाले शब्द पढ़िए।”</a:t>
            </a:r>
            <a:endParaRPr lang="hi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only </a:t>
            </a:r>
            <a:r>
              <a:rPr lang="en-IN" b="1" dirty="0"/>
              <a:t>one example visible at a time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First show </a:t>
            </a:r>
            <a:r>
              <a:rPr lang="hi-IN" b="1" dirty="0"/>
              <a:t>बैल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bullock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both strokes of the </a:t>
            </a:r>
            <a:r>
              <a:rPr lang="hi-IN" b="1" dirty="0"/>
              <a:t>ै मात्रा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ब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बैल</a:t>
            </a:r>
            <a:r>
              <a:rPr lang="hi-IN" dirty="0"/>
              <a:t>, </a:t>
            </a:r>
            <a:r>
              <a:rPr lang="en-IN" dirty="0"/>
              <a:t>using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the first example finishes, show </a:t>
            </a:r>
            <a:r>
              <a:rPr lang="hi-IN" b="1" dirty="0"/>
              <a:t>पैसा</a:t>
            </a:r>
            <a:r>
              <a:rPr lang="hi-IN" dirty="0"/>
              <a:t>, </a:t>
            </a:r>
            <a:r>
              <a:rPr lang="en-IN" dirty="0"/>
              <a:t>followed by a clear </a:t>
            </a:r>
            <a:r>
              <a:rPr lang="en-IN" b="1" dirty="0"/>
              <a:t>coin image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Highlight both strokes of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प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पैसा</a:t>
            </a:r>
            <a:r>
              <a:rPr lang="hi-IN" dirty="0"/>
              <a:t>, </a:t>
            </a:r>
            <a:r>
              <a:rPr lang="en-IN" dirty="0"/>
              <a:t>using the same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</a:t>
            </a:r>
            <a:r>
              <a:rPr lang="hi-IN" b="1" dirty="0"/>
              <a:t>ा मात्रा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पैसा</a:t>
            </a:r>
            <a:r>
              <a:rPr lang="hi-IN" dirty="0"/>
              <a:t> </a:t>
            </a:r>
            <a:r>
              <a:rPr lang="en-IN" dirty="0"/>
              <a:t>in the regular text colour.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existing mascot and overall UI/UX style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retaining the </a:t>
            </a:r>
            <a:r>
              <a:rPr lang="en-IN" b="1" dirty="0"/>
              <a:t>“</a:t>
            </a:r>
            <a:r>
              <a:rPr lang="hi-IN" b="1" dirty="0"/>
              <a:t>इस शब्द की मात्रा”</a:t>
            </a:r>
            <a:r>
              <a:rPr lang="hi-IN" dirty="0"/>
              <a:t> </a:t>
            </a:r>
            <a:r>
              <a:rPr lang="en-IN" dirty="0"/>
              <a:t>label, show </a:t>
            </a:r>
            <a:r>
              <a:rPr lang="en-IN" b="1" dirty="0"/>
              <a:t>◌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for both examples.</a:t>
            </a:r>
          </a:p>
          <a:p>
            <a:r>
              <a:rPr lang="en-IN" b="1" dirty="0"/>
              <a:t>Image Requirements: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बैल:</a:t>
            </a:r>
            <a:r>
              <a:rPr lang="hi-IN" dirty="0"/>
              <a:t> </a:t>
            </a:r>
            <a:r>
              <a:rPr lang="en-IN" dirty="0"/>
              <a:t>A recognisable bullock with a visible hump and horns.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i-IN" b="1" dirty="0"/>
              <a:t>पैसा:</a:t>
            </a:r>
            <a:r>
              <a:rPr lang="hi-IN" dirty="0"/>
              <a:t> </a:t>
            </a:r>
            <a:r>
              <a:rPr lang="en-IN" dirty="0"/>
              <a:t>A clear, recognisable coin illustration representing money.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a consistent, child-friendly illustration style with minimal background detail.</a:t>
            </a:r>
          </a:p>
          <a:p>
            <a:r>
              <a:rPr lang="en-IN" b="1" dirty="0"/>
              <a:t>Sequence: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hi-IN" b="1" dirty="0"/>
              <a:t>बैल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bullock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बैल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ब पर ऐ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बैल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pPr>
              <a:buFont typeface="+mj-lt"/>
              <a:buAutoNum type="arabicPeriod"/>
            </a:pPr>
            <a:r>
              <a:rPr lang="en-IN" dirty="0"/>
              <a:t>Fade out the first example.</a:t>
            </a:r>
          </a:p>
          <a:p>
            <a:pPr>
              <a:buFont typeface="+mj-lt"/>
              <a:buAutoNum type="arabicPeriod"/>
            </a:pPr>
            <a:r>
              <a:rPr lang="hi-IN" b="1" dirty="0"/>
              <a:t>पैसा</a:t>
            </a:r>
            <a:r>
              <a:rPr lang="hi-IN" dirty="0"/>
              <a:t> </a:t>
            </a:r>
            <a:r>
              <a:rPr lang="en-IN" dirty="0"/>
              <a:t>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The coin image appears.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पैसा — बोलकर देखिए।”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Pause briefly so the child can repeat the word.</a:t>
            </a:r>
          </a:p>
          <a:p>
            <a:pPr>
              <a:buFont typeface="+mj-lt"/>
              <a:buAutoNum type="arabicPeriod"/>
            </a:pPr>
            <a:r>
              <a:rPr lang="en-IN" dirty="0"/>
              <a:t>VO: </a:t>
            </a:r>
            <a:r>
              <a:rPr lang="en-IN" b="1" dirty="0"/>
              <a:t>“</a:t>
            </a:r>
            <a:r>
              <a:rPr lang="hi-IN" b="1" dirty="0"/>
              <a:t>इसमें प पर ऐ की मात्रा लगी है।”</a:t>
            </a:r>
            <a:endParaRPr lang="hi-IN" dirty="0"/>
          </a:p>
          <a:p>
            <a:pPr>
              <a:buFont typeface="+mj-lt"/>
              <a:buAutoNum type="arabicPeriod"/>
            </a:pPr>
            <a:r>
              <a:rPr lang="en-IN" dirty="0"/>
              <a:t>Highlight only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in </a:t>
            </a:r>
            <a:r>
              <a:rPr lang="hi-IN" b="1" dirty="0"/>
              <a:t>पैसा</a:t>
            </a:r>
            <a:r>
              <a:rPr lang="hi-IN" dirty="0"/>
              <a:t>, </a:t>
            </a:r>
            <a:r>
              <a:rPr lang="en-IN" dirty="0"/>
              <a:t>synchronised with the explanation.</a:t>
            </a:r>
          </a:p>
          <a:p>
            <a:r>
              <a:rPr lang="en-IN" b="1" dirty="0"/>
              <a:t>Animation: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Show the word first, followed by its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simple </a:t>
            </a:r>
            <a:r>
              <a:rPr lang="en-IN" b="1" dirty="0"/>
              <a:t>fade/pop-in animations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When the VO explains the </a:t>
            </a:r>
            <a:r>
              <a:rPr lang="en-IN" dirty="0" err="1"/>
              <a:t>matra</a:t>
            </a:r>
            <a:r>
              <a:rPr lang="en-IN" dirty="0"/>
              <a:t>, softly highlight both strokes of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consonants, headline and </a:t>
            </a:r>
            <a:r>
              <a:rPr lang="hi-IN" b="1" dirty="0"/>
              <a:t>ा मात्रा</a:t>
            </a:r>
            <a:r>
              <a:rPr lang="hi-IN" dirty="0"/>
              <a:t> </a:t>
            </a:r>
            <a:r>
              <a:rPr lang="en-IN" dirty="0"/>
              <a:t>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Complete one example before introducing the next.</a:t>
            </a:r>
          </a:p>
          <a:p>
            <a:r>
              <a:rPr lang="en-IN" b="1" dirty="0"/>
              <a:t>SFX: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pop when the word or image appears.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Add a soft chime when the </a:t>
            </a:r>
            <a:r>
              <a:rPr lang="en-IN" dirty="0" err="1"/>
              <a:t>matra</a:t>
            </a:r>
            <a:r>
              <a:rPr lang="en-IN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SFX subtle so the VO and pronunciation remain clear.</a:t>
            </a:r>
          </a:p>
          <a:p>
            <a:r>
              <a:rPr lang="en-IN" b="1" dirty="0"/>
              <a:t>Next Button: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Keep the </a:t>
            </a:r>
            <a:r>
              <a:rPr lang="hi-IN" b="1" dirty="0"/>
              <a:t>आगे</a:t>
            </a:r>
            <a:r>
              <a:rPr lang="hi-IN" dirty="0"/>
              <a:t> </a:t>
            </a:r>
            <a:r>
              <a:rPr lang="en-IN" dirty="0"/>
              <a:t>button disabled during the explanation.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Activate it only after both examples and their VO sequences finish.</a:t>
            </a:r>
          </a:p>
          <a:p>
            <a:r>
              <a:rPr lang="en-IN" b="1" dirty="0"/>
              <a:t>Note: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 the correct spellings: </a:t>
            </a:r>
            <a:r>
              <a:rPr lang="hi-IN" b="1" dirty="0"/>
              <a:t>बैल</a:t>
            </a:r>
            <a:r>
              <a:rPr lang="hi-IN" dirty="0"/>
              <a:t> </a:t>
            </a:r>
            <a:r>
              <a:rPr lang="en-IN" dirty="0"/>
              <a:t>and </a:t>
            </a:r>
            <a:r>
              <a:rPr lang="hi-IN" b="1" dirty="0"/>
              <a:t>पैसा</a:t>
            </a:r>
            <a:r>
              <a:rPr lang="hi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 </a:t>
            </a:r>
            <a:r>
              <a:rPr lang="hi-IN" b="1" dirty="0"/>
              <a:t>पैसा</a:t>
            </a:r>
            <a:r>
              <a:rPr lang="hi-IN" dirty="0"/>
              <a:t>, </a:t>
            </a:r>
            <a:r>
              <a:rPr lang="en-IN" dirty="0"/>
              <a:t>highlight only </a:t>
            </a:r>
            <a:r>
              <a:rPr lang="hi-IN" b="1" dirty="0"/>
              <a:t>ै</a:t>
            </a:r>
            <a:r>
              <a:rPr lang="hi-IN" dirty="0"/>
              <a:t> </a:t>
            </a:r>
            <a:r>
              <a:rPr lang="en-IN" dirty="0"/>
              <a:t>above </a:t>
            </a:r>
            <a:r>
              <a:rPr lang="hi-IN" b="1" dirty="0"/>
              <a:t>प</a:t>
            </a:r>
            <a:r>
              <a:rPr lang="hi-IN" dirty="0"/>
              <a:t>. </a:t>
            </a:r>
            <a:r>
              <a:rPr lang="en-IN" dirty="0"/>
              <a:t>Do not include </a:t>
            </a:r>
            <a:r>
              <a:rPr lang="hi-IN" b="1" dirty="0"/>
              <a:t>ा</a:t>
            </a:r>
            <a:r>
              <a:rPr lang="hi-IN" dirty="0"/>
              <a:t> </a:t>
            </a:r>
            <a:r>
              <a:rPr lang="en-IN" dirty="0"/>
              <a:t>after </a:t>
            </a:r>
            <a:r>
              <a:rPr lang="hi-IN" b="1" dirty="0"/>
              <a:t>स</a:t>
            </a:r>
            <a:r>
              <a:rPr lang="hi-IN" dirty="0"/>
              <a:t> </a:t>
            </a:r>
            <a:r>
              <a:rPr lang="en-IN" dirty="0"/>
              <a:t>in the red </a:t>
            </a:r>
            <a:r>
              <a:rPr lang="en-IN" dirty="0" err="1"/>
              <a:t>matra</a:t>
            </a:r>
            <a:r>
              <a:rPr lang="en-IN" dirty="0"/>
              <a:t> highlight.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 learning focus is recognising </a:t>
            </a:r>
            <a:r>
              <a:rPr lang="hi-IN" b="1" dirty="0"/>
              <a:t>ऐ की मात्रा</a:t>
            </a:r>
            <a:r>
              <a:rPr lang="hi-IN" dirty="0"/>
              <a:t> </a:t>
            </a:r>
            <a:r>
              <a:rPr lang="en-IN" dirty="0"/>
              <a:t>in both words: </a:t>
            </a:r>
            <a:r>
              <a:rPr lang="hi-IN" b="1" dirty="0"/>
              <a:t>बैल, पैसा</a:t>
            </a:r>
            <a:r>
              <a:rPr lang="hi-IN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40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“ए”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, </a:t>
            </a:r>
            <a:r>
              <a:rPr lang="en-GB" b="1" dirty="0" err="1"/>
              <a:t>बैल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“ए”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three options: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, </a:t>
            </a:r>
            <a:r>
              <a:rPr lang="en-GB" b="1" dirty="0" err="1"/>
              <a:t>बैल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hi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जिस डिब्बे में “ए” की मात्रा वाला शब्द है, उस डिब्बे पर टैप कीजिए।”</a:t>
            </a:r>
            <a:br>
              <a:rPr lang="hi-I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b="1" dirty="0"/>
              <a:t>Correct Answer: </a:t>
            </a:r>
            <a:r>
              <a:rPr lang="en-GB" b="1" dirty="0" err="1"/>
              <a:t>सेब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सेब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सेब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े</a:t>
            </a:r>
            <a:r>
              <a:rPr lang="en-GB" dirty="0"/>
              <a:t> inside </a:t>
            </a:r>
            <a:r>
              <a:rPr lang="en-GB" b="1" dirty="0" err="1"/>
              <a:t>सेब</a:t>
            </a:r>
            <a:r>
              <a:rPr lang="en-GB" dirty="0"/>
              <a:t> in red.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पैर</a:t>
            </a:r>
            <a:r>
              <a:rPr lang="en-GB" dirty="0"/>
              <a:t> or </a:t>
            </a:r>
            <a:r>
              <a:rPr lang="en-GB" b="1" dirty="0" err="1"/>
              <a:t>बैल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each word is spoken, highlight its </a:t>
            </a:r>
            <a:r>
              <a:rPr lang="en-GB" dirty="0" err="1"/>
              <a:t>matra</a:t>
            </a:r>
            <a:r>
              <a:rPr lang="en-GB" dirty="0"/>
              <a:t> in red using the same style as the teaching screens: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स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बैल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सेब</a:t>
            </a:r>
            <a:r>
              <a:rPr lang="en-GB" b="1" dirty="0"/>
              <a:t>। </a:t>
            </a:r>
            <a:r>
              <a:rPr lang="en-GB" b="1" dirty="0" err="1"/>
              <a:t>पैर</a:t>
            </a:r>
            <a:r>
              <a:rPr lang="en-GB" b="1" dirty="0"/>
              <a:t>। </a:t>
            </a:r>
            <a:r>
              <a:rPr lang="en-GB" b="1" dirty="0" err="1"/>
              <a:t>बैल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सेब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सेब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/>
              <a:t>े</a:t>
            </a:r>
            <a:r>
              <a:rPr lang="en-GB" dirty="0"/>
              <a:t> inside </a:t>
            </a:r>
            <a:r>
              <a:rPr lang="en-GB" b="1" dirty="0" err="1"/>
              <a:t>सेब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पैर</a:t>
            </a:r>
            <a:r>
              <a:rPr lang="en-GB" dirty="0"/>
              <a:t> and </a:t>
            </a:r>
            <a:r>
              <a:rPr lang="en-GB" b="1" dirty="0" err="1"/>
              <a:t>बैल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सेब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सेब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सेब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पैर</a:t>
            </a:r>
            <a:r>
              <a:rPr lang="en-GB" dirty="0"/>
              <a:t> to </a:t>
            </a:r>
            <a:r>
              <a:rPr lang="en-GB" b="1" dirty="0" err="1"/>
              <a:t>बैल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33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Option Change:</a:t>
            </a:r>
            <a:endParaRPr lang="en-GB" dirty="0"/>
          </a:p>
          <a:p>
            <a:r>
              <a:rPr lang="en-GB" dirty="0"/>
              <a:t>Update the three options to </a:t>
            </a:r>
            <a:r>
              <a:rPr lang="en-GB" b="1" dirty="0" err="1"/>
              <a:t>तेल</a:t>
            </a:r>
            <a:r>
              <a:rPr lang="en-GB" b="1" dirty="0"/>
              <a:t>, </a:t>
            </a:r>
            <a:r>
              <a:rPr lang="en-GB" b="1" dirty="0" err="1"/>
              <a:t>सैर</a:t>
            </a:r>
            <a:r>
              <a:rPr lang="en-GB" b="1" dirty="0"/>
              <a:t>, </a:t>
            </a:r>
            <a:r>
              <a:rPr lang="en-GB" b="1" dirty="0" err="1"/>
              <a:t>खेल</a:t>
            </a:r>
            <a:r>
              <a:rPr lang="en-GB" dirty="0"/>
              <a:t>. </a:t>
            </a:r>
            <a:r>
              <a:rPr lang="en-GB" b="1" dirty="0" err="1"/>
              <a:t>सैर</a:t>
            </a:r>
            <a:r>
              <a:rPr lang="en-GB" dirty="0"/>
              <a:t> is the only correct answer for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dirty="0"/>
              <a:t>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तेल</a:t>
            </a:r>
            <a:r>
              <a:rPr lang="en-GB" b="1" dirty="0"/>
              <a:t>, </a:t>
            </a:r>
            <a:r>
              <a:rPr lang="en-GB" b="1" dirty="0" err="1"/>
              <a:t>सैर</a:t>
            </a:r>
            <a:r>
              <a:rPr lang="en-GB" b="1" dirty="0"/>
              <a:t>, </a:t>
            </a:r>
            <a:r>
              <a:rPr lang="en-GB" b="1" dirty="0" err="1"/>
              <a:t>खेल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options in this order: </a:t>
            </a:r>
            <a:r>
              <a:rPr lang="en-GB" b="1" dirty="0" err="1"/>
              <a:t>तेल</a:t>
            </a:r>
            <a:r>
              <a:rPr lang="en-GB" b="1" dirty="0"/>
              <a:t>, </a:t>
            </a:r>
            <a:r>
              <a:rPr lang="en-GB" b="1" dirty="0" err="1"/>
              <a:t>सैर</a:t>
            </a:r>
            <a:r>
              <a:rPr lang="en-GB" b="1" dirty="0"/>
              <a:t>, </a:t>
            </a:r>
            <a:r>
              <a:rPr lang="en-GB" b="1" dirty="0" err="1"/>
              <a:t>खेल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सैर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सैर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सैर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स</a:t>
            </a:r>
            <a:r>
              <a:rPr lang="en-GB" dirty="0"/>
              <a:t> in </a:t>
            </a:r>
            <a:r>
              <a:rPr lang="en-GB" b="1" dirty="0" err="1"/>
              <a:t>सैर</a:t>
            </a:r>
            <a:r>
              <a:rPr lang="en-GB" dirty="0"/>
              <a:t> in red.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सैर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तेल</a:t>
            </a:r>
            <a:r>
              <a:rPr lang="en-GB" dirty="0"/>
              <a:t> or </a:t>
            </a:r>
            <a:r>
              <a:rPr lang="en-GB" b="1" dirty="0" err="1"/>
              <a:t>खेल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तेल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त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सैर</a:t>
            </a:r>
            <a:r>
              <a:rPr lang="en-GB" dirty="0"/>
              <a:t> is spoken,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स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खेल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ख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तेल</a:t>
            </a:r>
            <a:r>
              <a:rPr lang="en-GB" b="1" dirty="0"/>
              <a:t>। </a:t>
            </a:r>
            <a:r>
              <a:rPr lang="en-GB" b="1" dirty="0" err="1"/>
              <a:t>सैर</a:t>
            </a:r>
            <a:r>
              <a:rPr lang="en-GB" b="1" dirty="0"/>
              <a:t>। </a:t>
            </a:r>
            <a:r>
              <a:rPr lang="en-GB" b="1" dirty="0" err="1"/>
              <a:t>खेल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सैर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सैर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strokes of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सैर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तेल</a:t>
            </a:r>
            <a:r>
              <a:rPr lang="en-GB" dirty="0"/>
              <a:t> and </a:t>
            </a:r>
            <a:r>
              <a:rPr lang="en-GB" b="1" dirty="0" err="1"/>
              <a:t>खेल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सैर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सैर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सैर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सैर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dirty="0" err="1"/>
              <a:t>matra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सैर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option text and associated word audio to </a:t>
            </a:r>
            <a:r>
              <a:rPr lang="en-GB" b="1" dirty="0" err="1"/>
              <a:t>तेल</a:t>
            </a:r>
            <a:r>
              <a:rPr lang="en-GB" b="1" dirty="0"/>
              <a:t>, </a:t>
            </a:r>
            <a:r>
              <a:rPr lang="en-GB" b="1" dirty="0" err="1"/>
              <a:t>सैर</a:t>
            </a:r>
            <a:r>
              <a:rPr lang="en-GB" b="1" dirty="0"/>
              <a:t>, </a:t>
            </a:r>
            <a:r>
              <a:rPr lang="en-GB" b="1" dirty="0" err="1"/>
              <a:t>खेल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तेल</a:t>
            </a:r>
            <a:r>
              <a:rPr lang="en-GB" dirty="0"/>
              <a:t> to </a:t>
            </a:r>
            <a:r>
              <a:rPr lang="en-GB" b="1" dirty="0" err="1"/>
              <a:t>खेल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573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three coaches show </a:t>
            </a:r>
            <a:r>
              <a:rPr lang="en-GB" b="1" dirty="0" err="1"/>
              <a:t>बेसन</a:t>
            </a:r>
            <a:r>
              <a:rPr lang="en-GB" b="1" dirty="0"/>
              <a:t>, </a:t>
            </a:r>
            <a:r>
              <a:rPr lang="en-GB" b="1" dirty="0" err="1"/>
              <a:t>पैदल</a:t>
            </a:r>
            <a:r>
              <a:rPr lang="en-GB" b="1" dirty="0"/>
              <a:t>, </a:t>
            </a:r>
            <a:r>
              <a:rPr lang="en-GB" b="1" dirty="0" err="1"/>
              <a:t>मेज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after the train stops.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top: </a:t>
            </a:r>
            <a:r>
              <a:rPr lang="en-GB" b="1" dirty="0"/>
              <a:t>“ऐ”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three options in this order: </a:t>
            </a:r>
            <a:r>
              <a:rPr lang="en-GB" b="1" dirty="0" err="1"/>
              <a:t>बेसन</a:t>
            </a:r>
            <a:r>
              <a:rPr lang="en-GB" b="1" dirty="0"/>
              <a:t>, </a:t>
            </a:r>
            <a:r>
              <a:rPr lang="en-GB" b="1" dirty="0" err="1"/>
              <a:t>पैदल</a:t>
            </a:r>
            <a:r>
              <a:rPr lang="en-GB" b="1" dirty="0"/>
              <a:t>, </a:t>
            </a:r>
            <a:r>
              <a:rPr lang="en-GB" b="1" dirty="0" err="1"/>
              <a:t>मेज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 or answer cues.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जिस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, </a:t>
            </a:r>
            <a:r>
              <a:rPr lang="en-GB" b="1" dirty="0" err="1"/>
              <a:t>उस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Answer: </a:t>
            </a:r>
            <a:r>
              <a:rPr lang="en-GB" b="1" dirty="0" err="1"/>
              <a:t>पैदल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tap anywhere inside the </a:t>
            </a:r>
            <a:r>
              <a:rPr lang="en-GB" b="1" dirty="0" err="1"/>
              <a:t>पैदल</a:t>
            </a:r>
            <a:r>
              <a:rPr lang="en-GB" dirty="0"/>
              <a:t>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पैदल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 in </a:t>
            </a:r>
            <a:r>
              <a:rPr lang="en-GB" b="1" dirty="0" err="1"/>
              <a:t>पैदल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remaining letters in the regular text colour.</a:t>
            </a:r>
          </a:p>
          <a:p>
            <a:r>
              <a:rPr lang="en-GB" b="1" dirty="0"/>
              <a:t>Correct Response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पैदल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taps </a:t>
            </a:r>
            <a:r>
              <a:rPr lang="en-GB" b="1" dirty="0" err="1"/>
              <a:t>बेसन</a:t>
            </a:r>
            <a:r>
              <a:rPr lang="en-GB" dirty="0"/>
              <a:t> or </a:t>
            </a:r>
            <a:r>
              <a:rPr lang="en-GB" b="1" dirty="0" err="1"/>
              <a:t>मेज</a:t>
            </a:r>
            <a:r>
              <a:rPr lang="en-GB" dirty="0"/>
              <a:t>, softly shake the selected coach, then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any word or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choose from all three options again.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all three words</a:t>
            </a:r>
            <a:r>
              <a:rPr lang="en-GB" dirty="0"/>
              <a:t>, one by one, from left to right.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बेसन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पैदल</a:t>
            </a:r>
            <a:r>
              <a:rPr lang="en-GB" dirty="0"/>
              <a:t> is spoken,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As </a:t>
            </a:r>
            <a:r>
              <a:rPr lang="en-GB" b="1" dirty="0" err="1"/>
              <a:t>मेज</a:t>
            </a:r>
            <a:r>
              <a:rPr lang="en-GB" dirty="0"/>
              <a:t> is spoken,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म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highlighting style as the teaching screens.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Retain the </a:t>
            </a:r>
            <a:r>
              <a:rPr lang="en-GB" dirty="0" err="1"/>
              <a:t>matra</a:t>
            </a:r>
            <a:r>
              <a:rPr lang="en-GB" dirty="0"/>
              <a:t> highlights in all three words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a correct-answer coach glow or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VO, with a short pause between words: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बेसन</a:t>
            </a:r>
            <a:r>
              <a:rPr lang="en-GB" b="1" dirty="0"/>
              <a:t>। </a:t>
            </a:r>
            <a:r>
              <a:rPr lang="en-GB" b="1" dirty="0" err="1"/>
              <a:t>पैदल</a:t>
            </a:r>
            <a:r>
              <a:rPr lang="en-GB" b="1" dirty="0"/>
              <a:t>। </a:t>
            </a:r>
            <a:r>
              <a:rPr lang="en-GB" b="1" dirty="0" err="1"/>
              <a:t>मेज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Attempt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selected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</a:t>
            </a:r>
            <a:r>
              <a:rPr lang="en-GB" b="1" dirty="0" err="1"/>
              <a:t>पैदल</a:t>
            </a:r>
            <a:r>
              <a:rPr lang="en-GB" dirty="0"/>
              <a:t>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nudge on the </a:t>
            </a:r>
            <a:r>
              <a:rPr lang="en-GB" b="1" dirty="0" err="1"/>
              <a:t>पैदल</a:t>
            </a:r>
            <a:r>
              <a:rPr lang="en-GB" b="1" dirty="0"/>
              <a:t>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strokes of </a:t>
            </a:r>
            <a:r>
              <a:rPr lang="en-GB" b="1" dirty="0"/>
              <a:t>ै</a:t>
            </a:r>
            <a:r>
              <a:rPr lang="en-GB" dirty="0"/>
              <a:t> inside </a:t>
            </a:r>
            <a:r>
              <a:rPr lang="en-GB" b="1" dirty="0" err="1"/>
              <a:t>पैदल</a:t>
            </a:r>
            <a:r>
              <a:rPr lang="en-GB" dirty="0"/>
              <a:t> highlighted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</a:t>
            </a:r>
            <a:r>
              <a:rPr lang="en-GB" b="1" dirty="0" err="1"/>
              <a:t>बेसन</a:t>
            </a:r>
            <a:r>
              <a:rPr lang="en-GB" dirty="0"/>
              <a:t> and </a:t>
            </a:r>
            <a:r>
              <a:rPr lang="en-GB" b="1" dirty="0" err="1"/>
              <a:t>मेज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</a:t>
            </a:r>
            <a:r>
              <a:rPr lang="en-GB" b="1" dirty="0" err="1"/>
              <a:t>पैदल</a:t>
            </a:r>
            <a:r>
              <a:rPr lang="en-GB" dirty="0"/>
              <a:t> to be selected.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tap it. Do not select the answer or advance automatically.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पैदल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पैदल</a:t>
            </a:r>
            <a:r>
              <a:rPr lang="en-GB" b="1" dirty="0"/>
              <a:t> </a:t>
            </a:r>
            <a:r>
              <a:rPr lang="en-GB" b="1" dirty="0" err="1"/>
              <a:t>पर</a:t>
            </a:r>
            <a:r>
              <a:rPr lang="en-GB" b="1" dirty="0"/>
              <a:t> </a:t>
            </a:r>
            <a:r>
              <a:rPr lang="en-GB" b="1" dirty="0" err="1"/>
              <a:t>टैप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Response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the child’s tap on </a:t>
            </a:r>
            <a:r>
              <a:rPr lang="en-GB" b="1" dirty="0" err="1"/>
              <a:t>पैदल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confetti/sparkle effect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correct word’s </a:t>
            </a:r>
            <a:r>
              <a:rPr lang="en-GB" b="1" dirty="0"/>
              <a:t>ै </a:t>
            </a:r>
            <a:r>
              <a:rPr lang="en-GB" b="1" dirty="0" err="1"/>
              <a:t>मात्रा</a:t>
            </a:r>
            <a:r>
              <a:rPr lang="en-GB" dirty="0"/>
              <a:t> highlighted.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 during entry.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sound on selection.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the child selects </a:t>
            </a:r>
            <a:r>
              <a:rPr lang="en-GB" b="1" dirty="0" err="1"/>
              <a:t>पैदल</a:t>
            </a:r>
            <a:r>
              <a:rPr lang="en-GB" dirty="0"/>
              <a:t> and the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option text and associated word audio to </a:t>
            </a:r>
            <a:r>
              <a:rPr lang="en-GB" b="1" dirty="0" err="1"/>
              <a:t>बेसन</a:t>
            </a:r>
            <a:r>
              <a:rPr lang="en-GB" b="1" dirty="0"/>
              <a:t>, </a:t>
            </a:r>
            <a:r>
              <a:rPr lang="en-GB" b="1" dirty="0" err="1"/>
              <a:t>पैदल</a:t>
            </a:r>
            <a:r>
              <a:rPr lang="en-GB" b="1" dirty="0"/>
              <a:t>, </a:t>
            </a:r>
            <a:r>
              <a:rPr lang="en-GB" b="1" dirty="0" err="1"/>
              <a:t>मेज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wrong taps across both incorrect options. Switching from </a:t>
            </a:r>
            <a:r>
              <a:rPr lang="en-GB" b="1" dirty="0" err="1"/>
              <a:t>बेसन</a:t>
            </a:r>
            <a:r>
              <a:rPr lang="en-GB" dirty="0"/>
              <a:t> to </a:t>
            </a:r>
            <a:r>
              <a:rPr lang="en-GB" b="1" dirty="0" err="1"/>
              <a:t>मेज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tap,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at any earlier stage, accept the answer immediately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hand nudge appears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r>
              <a:rPr lang="en-GB" dirty="0"/>
              <a:t>11:19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06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Suggested New Words:</a:t>
            </a:r>
            <a:endParaRPr lang="en-GB" dirty="0"/>
          </a:p>
          <a:p>
            <a:r>
              <a:rPr lang="en-GB" dirty="0"/>
              <a:t>Use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बेर</a:t>
            </a:r>
            <a:r>
              <a:rPr lang="en-GB" b="1" dirty="0"/>
              <a:t>, </a:t>
            </a:r>
            <a:r>
              <a:rPr lang="en-GB" b="1" dirty="0" err="1"/>
              <a:t>थैला</a:t>
            </a:r>
            <a:r>
              <a:rPr lang="en-GB" b="1" dirty="0"/>
              <a:t>, </a:t>
            </a:r>
            <a:r>
              <a:rPr lang="en-GB" b="1" dirty="0" err="1"/>
              <a:t>पैसा</a:t>
            </a:r>
            <a:r>
              <a:rPr lang="en-GB" dirty="0"/>
              <a:t> to introduce different words with clear picture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शेर</a:t>
            </a:r>
            <a:r>
              <a:rPr lang="en-GB" dirty="0"/>
              <a:t>, </a:t>
            </a:r>
            <a:r>
              <a:rPr lang="en-GB" dirty="0" err="1"/>
              <a:t>बेर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थैला</a:t>
            </a:r>
            <a:r>
              <a:rPr lang="en-GB" dirty="0"/>
              <a:t>, </a:t>
            </a:r>
            <a:r>
              <a:rPr lang="en-GB" dirty="0" err="1"/>
              <a:t>पैसा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coaches labelled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drop areas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Four draggable picture-and-word cards appear below the train in mixed order: </a:t>
            </a:r>
            <a:r>
              <a:rPr lang="en-GB" b="1" dirty="0" err="1"/>
              <a:t>थैला</a:t>
            </a:r>
            <a:r>
              <a:rPr lang="en-GB" b="1" dirty="0"/>
              <a:t>,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पैसा</a:t>
            </a:r>
            <a:r>
              <a:rPr lang="en-GB" b="1" dirty="0"/>
              <a:t>, </a:t>
            </a:r>
            <a:r>
              <a:rPr lang="en-GB" b="1" dirty="0" err="1"/>
              <a:t>बेर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VO, then read each card’s word aloud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 at the top.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only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 as the coach labels, matching the attached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card should show a clear picture with its word underneath.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Initially, keep all words in the regular text colour without </a:t>
            </a:r>
            <a:r>
              <a:rPr lang="en-GB" dirty="0" err="1"/>
              <a:t>matra</a:t>
            </a:r>
            <a:r>
              <a:rPr lang="en-GB" dirty="0"/>
              <a:t> highlights.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extra instruction text in the play area.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A recognisable lion with a clear mane.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बेर</a:t>
            </a:r>
            <a:r>
              <a:rPr lang="en-GB" b="1" dirty="0"/>
              <a:t>:</a:t>
            </a:r>
            <a:r>
              <a:rPr lang="en-GB" dirty="0"/>
              <a:t> A few recognisable </a:t>
            </a:r>
            <a:r>
              <a:rPr lang="en-GB" dirty="0" err="1"/>
              <a:t>ber</a:t>
            </a:r>
            <a:r>
              <a:rPr lang="en-GB" dirty="0"/>
              <a:t> fruits, with one cut fruit showing the stone. Avoid an image resembling apples or grapes.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थैला</a:t>
            </a:r>
            <a:r>
              <a:rPr lang="en-GB" b="1" dirty="0"/>
              <a:t>:</a:t>
            </a:r>
            <a:r>
              <a:rPr lang="en-GB" dirty="0"/>
              <a:t> A simple cloth shopping bag with two handles.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पैसा</a:t>
            </a:r>
            <a:r>
              <a:rPr lang="en-GB" b="1" dirty="0"/>
              <a:t>:</a:t>
            </a:r>
            <a:r>
              <a:rPr lang="en-GB" dirty="0"/>
              <a:t> A clear coin illustration.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 minimal background detail.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Pair every picture with its written word and spoken name to make the intended vocabulary clear.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हर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Card-name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थैला</a:t>
            </a:r>
            <a:r>
              <a:rPr lang="en-GB" b="1" dirty="0"/>
              <a:t>।” / 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पैसा</a:t>
            </a:r>
            <a:r>
              <a:rPr lang="en-GB" b="1" dirty="0"/>
              <a:t>।” / “</a:t>
            </a:r>
            <a:r>
              <a:rPr lang="en-GB" b="1" dirty="0" err="1"/>
              <a:t>बेर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 tap on a card plays its name without counting as an answer attempt. Disable dragging while the word VO plays.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card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mapping:</a:t>
            </a:r>
          </a:p>
          <a:p>
            <a:r>
              <a:rPr lang="en-GB" dirty="0" err="1"/>
              <a:t>WordCorrect</a:t>
            </a:r>
            <a:r>
              <a:rPr lang="en-GB" dirty="0"/>
              <a:t> </a:t>
            </a:r>
            <a:r>
              <a:rPr lang="en-GB" dirty="0" err="1"/>
              <a:t>डिब्बाशेरएबेरएथैलाऐपैसाऐ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 two cards inside each coach without overlap.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either coach the same neutral hover highlight when a card moves over it. This should not indicate whether the answer is correct.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the target </a:t>
            </a:r>
            <a:r>
              <a:rPr lang="en-GB" dirty="0" err="1"/>
              <a:t>matra</a:t>
            </a:r>
            <a:r>
              <a:rPr lang="en-GB" dirty="0"/>
              <a:t> inside the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correctly placed card so it cannot be dragged again.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थैला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a </a:t>
            </a:r>
            <a:r>
              <a:rPr lang="en-GB" dirty="0" err="1"/>
              <a:t>matra</a:t>
            </a:r>
            <a:r>
              <a:rPr lang="en-GB" dirty="0"/>
              <a:t> or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पढ़िए</a:t>
            </a:r>
            <a:r>
              <a:rPr lang="en-GB" b="1" dirty="0"/>
              <a:t>। 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only the wrongly dropped word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target </a:t>
            </a:r>
            <a:r>
              <a:rPr lang="en-GB" dirty="0" err="1"/>
              <a:t>matra</a:t>
            </a:r>
            <a:r>
              <a:rPr lang="en-GB" dirty="0"/>
              <a:t> in red using the teaching-screen style: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श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बेर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ब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थैला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थ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पैसा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 </a:t>
            </a:r>
            <a:r>
              <a:rPr lang="en-GB" b="1" dirty="0" err="1"/>
              <a:t>थैला</a:t>
            </a:r>
            <a:r>
              <a:rPr lang="en-GB" dirty="0"/>
              <a:t> and </a:t>
            </a:r>
            <a:r>
              <a:rPr lang="en-GB" b="1" dirty="0" err="1"/>
              <a:t>पैसा</a:t>
            </a:r>
            <a:r>
              <a:rPr lang="en-GB" dirty="0"/>
              <a:t>, keep </a:t>
            </a:r>
            <a:r>
              <a:rPr lang="en-GB" b="1" dirty="0"/>
              <a:t>ा</a:t>
            </a:r>
            <a:r>
              <a:rPr lang="en-GB" dirty="0"/>
              <a:t> in the regular text colour. The comparison here is between </a:t>
            </a:r>
            <a:r>
              <a:rPr lang="en-GB" b="1" dirty="0"/>
              <a:t>े</a:t>
            </a:r>
            <a:r>
              <a:rPr lang="en-GB" dirty="0"/>
              <a:t> and </a:t>
            </a:r>
            <a:r>
              <a:rPr lang="en-GB" b="1" dirty="0"/>
              <a:t>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 and headline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coach or show a hand.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try either coach.</a:t>
            </a:r>
          </a:p>
          <a:p>
            <a:r>
              <a:rPr lang="en-GB" b="1" dirty="0"/>
              <a:t>Word VO — Play Only the Current Word: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बेर</a:t>
            </a:r>
            <a:r>
              <a:rPr lang="en-GB" b="1" dirty="0"/>
              <a:t>।” / “</a:t>
            </a:r>
            <a:r>
              <a:rPr lang="en-GB" b="1" dirty="0" err="1"/>
              <a:t>थैला</a:t>
            </a:r>
            <a:r>
              <a:rPr lang="en-GB" b="1" dirty="0"/>
              <a:t>।” / “</a:t>
            </a:r>
            <a:r>
              <a:rPr lang="en-GB" b="1" dirty="0" err="1"/>
              <a:t>पैसा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इस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उसकी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current card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drag nudge from the card to the correct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this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other unfinished cards until this guided placement is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the child to drag the current card only into its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place the card automatically.</a:t>
            </a:r>
          </a:p>
          <a:p>
            <a:r>
              <a:rPr lang="en-GB" b="1" dirty="0"/>
              <a:t>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बेर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थैला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पैसा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target </a:t>
            </a:r>
            <a:r>
              <a:rPr lang="en-GB" dirty="0" err="1"/>
              <a:t>matra</a:t>
            </a:r>
            <a:r>
              <a:rPr lang="en-GB" dirty="0"/>
              <a:t> highlighted and lock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unfinished cards.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all four cards are correctly placed,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 when dragging begins.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drop/success sound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four cards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</a:t>
            </a:r>
            <a:r>
              <a:rPr lang="en-GB" b="1" dirty="0"/>
              <a:t>separate wrong-attempt counter for each card</a:t>
            </a:r>
            <a:r>
              <a:rPr lang="en-GB" dirty="0"/>
              <a:t>. Each new card starts at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switches cards, preserve each unfinished card’s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A name-only tap or release outside both coaches does not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 for that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cards locked throughout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places a card correctly earlier, stop its hint sequence immediately.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hand drag nudge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500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 of the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coaches labelled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drop areas empty.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two draggable </a:t>
            </a:r>
            <a:r>
              <a:rPr lang="en-GB" dirty="0" err="1"/>
              <a:t>matra</a:t>
            </a:r>
            <a:r>
              <a:rPr lang="en-GB" dirty="0"/>
              <a:t> cards below the train: </a:t>
            </a:r>
            <a:r>
              <a:rPr lang="en-GB" b="1" dirty="0"/>
              <a:t>◌ै</a:t>
            </a:r>
            <a:r>
              <a:rPr lang="en-GB" dirty="0"/>
              <a:t> and </a:t>
            </a:r>
            <a:r>
              <a:rPr lang="en-GB" b="1" dirty="0"/>
              <a:t>◌े</a:t>
            </a:r>
            <a:r>
              <a:rPr lang="en-GB" dirty="0"/>
              <a:t>, as in the attached screen.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heading: </a:t>
            </a:r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only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 above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</a:t>
            </a:r>
            <a:r>
              <a:rPr lang="en-GB" dirty="0" err="1"/>
              <a:t>matra</a:t>
            </a:r>
            <a:r>
              <a:rPr lang="en-GB" dirty="0"/>
              <a:t> symbols to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</a:t>
            </a:r>
            <a:r>
              <a:rPr lang="en-GB" dirty="0" err="1"/>
              <a:t>matra</a:t>
            </a:r>
            <a:r>
              <a:rPr lang="en-GB" dirty="0"/>
              <a:t> cards in the regular text colour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a neutral dotted circle to display each </a:t>
            </a:r>
            <a:r>
              <a:rPr lang="en-GB" dirty="0" err="1"/>
              <a:t>matra</a:t>
            </a:r>
            <a:r>
              <a:rPr lang="en-GB" dirty="0"/>
              <a:t>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</a:t>
            </a:r>
            <a:r>
              <a:rPr lang="en-GB" dirty="0" err="1"/>
              <a:t>matra</a:t>
            </a:r>
            <a:r>
              <a:rPr lang="en-GB" dirty="0"/>
              <a:t> card into its matching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mapping: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◌े → ए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◌ै → ऐ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Allow only one </a:t>
            </a:r>
            <a:r>
              <a:rPr lang="en-GB" dirty="0" err="1"/>
              <a:t>matra</a:t>
            </a:r>
            <a:r>
              <a:rPr lang="en-GB" dirty="0"/>
              <a:t> card inside each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hover highlight for either coach. It should not reveal whether the destination is correct.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announce the </a:t>
            </a:r>
            <a:r>
              <a:rPr lang="en-GB" dirty="0" err="1"/>
              <a:t>matra’s</a:t>
            </a:r>
            <a:r>
              <a:rPr lang="en-GB" dirty="0"/>
              <a:t> name on initial pick-up, as this would identify its matching coach.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dirty="0" err="1"/>
              <a:t>matra</a:t>
            </a:r>
            <a:r>
              <a:rPr lang="en-GB" dirty="0"/>
              <a:t>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</a:t>
            </a:r>
            <a:r>
              <a:rPr lang="en-GB" dirty="0" err="1"/>
              <a:t>matra</a:t>
            </a:r>
            <a:r>
              <a:rPr lang="en-GB" dirty="0"/>
              <a:t> strokes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correctly placed card.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◌े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For </a:t>
            </a:r>
            <a:r>
              <a:rPr lang="en-GB" b="1" dirty="0"/>
              <a:t>◌ै</a:t>
            </a:r>
            <a:r>
              <a:rPr lang="en-GB" dirty="0"/>
              <a:t>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यह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</a:t>
            </a:r>
            <a:r>
              <a:rPr lang="en-GB" dirty="0" err="1"/>
              <a:t>matra</a:t>
            </a:r>
            <a:r>
              <a:rPr lang="en-GB" dirty="0"/>
              <a:t> or either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</a:t>
            </a:r>
            <a:r>
              <a:rPr lang="en-GB" b="1" dirty="0"/>
              <a:t>only the wrongly dropped </a:t>
            </a:r>
            <a:r>
              <a:rPr lang="en-GB" b="1" dirty="0" err="1"/>
              <a:t>matra</a:t>
            </a:r>
            <a:r>
              <a:rPr lang="en-GB" b="1" dirty="0"/>
              <a:t> card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</a:t>
            </a:r>
            <a:r>
              <a:rPr lang="en-GB" dirty="0" err="1"/>
              <a:t>matra</a:t>
            </a:r>
            <a:r>
              <a:rPr lang="en-GB" dirty="0"/>
              <a:t> strokes in red using the teaching-screen style.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/>
              <a:t>◌े</a:t>
            </a:r>
            <a:r>
              <a:rPr lang="en-GB" dirty="0"/>
              <a:t>, trace its single upper stroke.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</a:t>
            </a:r>
            <a:r>
              <a:rPr lang="en-GB" b="1" dirty="0"/>
              <a:t>◌ै</a:t>
            </a:r>
            <a:r>
              <a:rPr lang="en-GB" dirty="0"/>
              <a:t>, trace its two upper strokes one after the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dotted circle neutral.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both coach labels visible without highlighting the correct 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announce the </a:t>
            </a:r>
            <a:r>
              <a:rPr lang="en-GB" dirty="0" err="1"/>
              <a:t>matra’s</a:t>
            </a:r>
            <a:r>
              <a:rPr lang="en-GB" dirty="0"/>
              <a:t> name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return the card to its normal size and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आकार</a:t>
            </a:r>
            <a:r>
              <a:rPr lang="en-GB" b="1" dirty="0"/>
              <a:t> </a:t>
            </a:r>
            <a:r>
              <a:rPr lang="en-GB" b="1" dirty="0" err="1"/>
              <a:t>ध्यान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Card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current </a:t>
            </a:r>
            <a:r>
              <a:rPr lang="en-GB" dirty="0" err="1"/>
              <a:t>matra</a:t>
            </a:r>
            <a:r>
              <a:rPr lang="en-GB" dirty="0"/>
              <a:t> card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</a:t>
            </a:r>
            <a:r>
              <a:rPr lang="en-GB" b="1" dirty="0"/>
              <a:t>hand drag nudge from the card to the correct coach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this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the other unfinished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complete the drag. Do not place the card automatically.</a:t>
            </a:r>
          </a:p>
          <a:p>
            <a:r>
              <a:rPr lang="en-GB" b="1" dirty="0"/>
              <a:t>VO for ◌े: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◌ै: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यह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card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card, if any.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both </a:t>
            </a:r>
            <a:r>
              <a:rPr lang="en-GB" dirty="0" err="1"/>
              <a:t>matras</a:t>
            </a:r>
            <a:r>
              <a:rPr lang="en-GB" dirty="0"/>
              <a:t> are placed correctly,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 when dragging begins.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both </a:t>
            </a:r>
            <a:r>
              <a:rPr lang="en-GB" dirty="0" err="1"/>
              <a:t>matras</a:t>
            </a:r>
            <a:r>
              <a:rPr lang="en-GB" dirty="0"/>
              <a:t>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separate wrong-attempt counter for each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card starts at zero. Switching cards must not reset an existing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Releasing outside both coaches simply returns the card without adding an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cards locked. A wrong drop onto an occupied coach should return the dragged card without disturbing the placed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stop that card’s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hand drag nudge </a:t>
            </a:r>
            <a:r>
              <a:rPr lang="en-GB" b="1" dirty="0"/>
              <a:t>only in Hint 3</a:t>
            </a:r>
            <a:r>
              <a:rPr lang="en-GB" dirty="0"/>
              <a:t> for this guided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With only two cards, the second placement may be completed by elimination. Treat this screen as supported matching practice.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788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Word Change:</a:t>
            </a:r>
            <a:endParaRPr lang="en-GB" dirty="0"/>
          </a:p>
          <a:p>
            <a:r>
              <a:rPr lang="en-GB" dirty="0"/>
              <a:t>Replace </a:t>
            </a:r>
            <a:r>
              <a:rPr lang="en-GB" b="1" dirty="0" err="1"/>
              <a:t>रेल</a:t>
            </a:r>
            <a:r>
              <a:rPr lang="en-GB" dirty="0"/>
              <a:t> with </a:t>
            </a:r>
            <a:r>
              <a:rPr lang="en-GB" b="1" dirty="0" err="1"/>
              <a:t>मेज़</a:t>
            </a:r>
            <a:r>
              <a:rPr lang="en-GB" dirty="0"/>
              <a:t>, a familiar word that can be shown clearly through a table image.</a:t>
            </a:r>
          </a:p>
          <a:p>
            <a:r>
              <a:rPr lang="en-GB" dirty="0"/>
              <a:t>The three target words will be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, </a:t>
            </a:r>
            <a:r>
              <a:rPr lang="en-GB" b="1" dirty="0" err="1"/>
              <a:t>मेज़</a:t>
            </a:r>
            <a:r>
              <a:rPr lang="en-GB" dirty="0"/>
              <a:t>.</a:t>
            </a:r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train with </a:t>
            </a:r>
            <a:r>
              <a:rPr lang="en-GB" b="1" dirty="0"/>
              <a:t>three coaches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coach contains a blank for the </a:t>
            </a:r>
            <a:r>
              <a:rPr lang="en-GB" b="1" dirty="0"/>
              <a:t>first </a:t>
            </a:r>
            <a:r>
              <a:rPr lang="en-GB" b="1" dirty="0" err="1"/>
              <a:t>अक्षर</a:t>
            </a:r>
            <a:r>
              <a:rPr lang="en-GB" dirty="0"/>
              <a:t>, followed by the remaining letter.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looks at the picture and drags the correct </a:t>
            </a:r>
            <a:r>
              <a:rPr lang="en-GB" dirty="0" err="1"/>
              <a:t>अक्षर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whole </a:t>
            </a:r>
            <a:r>
              <a:rPr lang="en-GB" dirty="0" err="1"/>
              <a:t>अक्षर</a:t>
            </a:r>
            <a:r>
              <a:rPr lang="en-GB" dirty="0"/>
              <a:t> options such as </a:t>
            </a: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पै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dirty="0"/>
              <a:t>, rather than separate </a:t>
            </a:r>
            <a:r>
              <a:rPr lang="en-GB" dirty="0" err="1"/>
              <a:t>matra</a:t>
            </a:r>
            <a:r>
              <a:rPr lang="en-GB" dirty="0"/>
              <a:t> symbols.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these pictures and incomplete words:</a:t>
            </a:r>
          </a:p>
          <a:p>
            <a:r>
              <a:rPr lang="en-GB" dirty="0" err="1"/>
              <a:t>PictureIncomplete</a:t>
            </a:r>
            <a:r>
              <a:rPr lang="en-GB" dirty="0"/>
              <a:t> </a:t>
            </a:r>
            <a:r>
              <a:rPr lang="en-GB" dirty="0" err="1"/>
              <a:t>WordCorrect</a:t>
            </a:r>
            <a:r>
              <a:rPr lang="en-GB" dirty="0"/>
              <a:t> </a:t>
            </a:r>
            <a:r>
              <a:rPr lang="en-GB" dirty="0" err="1"/>
              <a:t>OptionCompleted</a:t>
            </a:r>
            <a:r>
              <a:rPr lang="en-GB" dirty="0"/>
              <a:t> </a:t>
            </a:r>
            <a:r>
              <a:rPr lang="en-GB" dirty="0" err="1"/>
              <a:t>WordApple</a:t>
            </a:r>
            <a:r>
              <a:rPr lang="en-GB" b="1" dirty="0" err="1"/>
              <a:t>_बसेसेब</a:t>
            </a:r>
            <a:r>
              <a:rPr lang="en-GB" dirty="0" err="1"/>
              <a:t>Foot</a:t>
            </a:r>
            <a:r>
              <a:rPr lang="en-GB" b="1" dirty="0" err="1"/>
              <a:t>_रपैपैर</a:t>
            </a:r>
            <a:r>
              <a:rPr lang="en-GB" dirty="0" err="1"/>
              <a:t>Table</a:t>
            </a:r>
            <a:r>
              <a:rPr lang="en-GB" b="1" dirty="0" err="1"/>
              <a:t>_ज़मेमेज़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Replace the rail picture above the third coach with a </a:t>
            </a:r>
            <a:r>
              <a:rPr lang="en-GB" b="1" dirty="0"/>
              <a:t>table image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Change the third incomplete word from </a:t>
            </a:r>
            <a:r>
              <a:rPr lang="en-GB" b="1" dirty="0"/>
              <a:t>_ल</a:t>
            </a:r>
            <a:r>
              <a:rPr lang="en-GB" dirty="0"/>
              <a:t> to </a:t>
            </a:r>
            <a:r>
              <a:rPr lang="en-GB" b="1" dirty="0"/>
              <a:t>_</a:t>
            </a:r>
            <a:r>
              <a:rPr lang="en-GB" b="1" dirty="0" err="1"/>
              <a:t>ज़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five draggable options in mixed order: </a:t>
            </a: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बै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b="1" dirty="0"/>
              <a:t>, </a:t>
            </a:r>
            <a:r>
              <a:rPr lang="en-GB" b="1" dirty="0" err="1"/>
              <a:t>बे</a:t>
            </a:r>
            <a:r>
              <a:rPr lang="en-GB" b="1" dirty="0"/>
              <a:t>, </a:t>
            </a:r>
            <a:r>
              <a:rPr lang="en-GB" b="1" dirty="0" err="1"/>
              <a:t>पै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बै</a:t>
            </a:r>
            <a:r>
              <a:rPr lang="en-GB" dirty="0"/>
              <a:t> and </a:t>
            </a:r>
            <a:r>
              <a:rPr lang="en-GB" b="1" dirty="0" err="1"/>
              <a:t>बे</a:t>
            </a:r>
            <a:r>
              <a:rPr lang="en-GB" dirty="0"/>
              <a:t> are distractors. They do not correctly complete any pictured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</a:t>
            </a:r>
            <a:r>
              <a:rPr lang="en-GB" b="1" dirty="0" err="1"/>
              <a:t>रे</a:t>
            </a:r>
            <a:r>
              <a:rPr lang="en-GB" dirty="0"/>
              <a:t> from the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complete words or highlight </a:t>
            </a:r>
            <a:r>
              <a:rPr lang="en-GB" dirty="0" err="1"/>
              <a:t>matras</a:t>
            </a:r>
            <a:r>
              <a:rPr lang="en-GB" dirty="0"/>
              <a:t>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train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r>
              <a:rPr lang="en-GB" b="1" dirty="0"/>
              <a:t>:</a:t>
            </a:r>
            <a:r>
              <a:rPr lang="en-GB" dirty="0"/>
              <a:t> A clear red apple.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A recognisable bare foot with visible toes.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मेज़</a:t>
            </a:r>
            <a:r>
              <a:rPr lang="en-GB" b="1" dirty="0"/>
              <a:t>:</a:t>
            </a:r>
            <a:r>
              <a:rPr lang="en-GB" dirty="0"/>
              <a:t> A simple table with a clear tabletop and visible legs.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images large enough to recognise and use a consistent illustration style.</a:t>
            </a:r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 and stops at the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Picture cards appear above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Incomplete words appear inside the coaches.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अक्षर</a:t>
            </a:r>
            <a:r>
              <a:rPr lang="en-GB" dirty="0"/>
              <a:t> options slide up from the bottom.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Option VO:</a:t>
            </a:r>
            <a:endParaRPr lang="en-GB" dirty="0"/>
          </a:p>
          <a:p>
            <a:r>
              <a:rPr lang="en-GB" dirty="0"/>
              <a:t>Tapping an </a:t>
            </a:r>
            <a:r>
              <a:rPr lang="en-GB" dirty="0" err="1"/>
              <a:t>अक्षर</a:t>
            </a:r>
            <a:r>
              <a:rPr lang="en-GB" dirty="0"/>
              <a:t> card plays only its sound: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।” / “</a:t>
            </a:r>
            <a:r>
              <a:rPr lang="en-GB" b="1" dirty="0" err="1"/>
              <a:t>बै</a:t>
            </a:r>
            <a:r>
              <a:rPr lang="en-GB" b="1" dirty="0"/>
              <a:t>।” / “</a:t>
            </a:r>
            <a:r>
              <a:rPr lang="en-GB" b="1" dirty="0" err="1"/>
              <a:t>मे</a:t>
            </a:r>
            <a:r>
              <a:rPr lang="en-GB" b="1" dirty="0"/>
              <a:t>।” / “</a:t>
            </a:r>
            <a:r>
              <a:rPr lang="en-GB" b="1" dirty="0" err="1"/>
              <a:t>बे</a:t>
            </a:r>
            <a:r>
              <a:rPr lang="en-GB" b="1" dirty="0"/>
              <a:t>।” / “</a:t>
            </a:r>
            <a:r>
              <a:rPr lang="en-GB" b="1" dirty="0" err="1"/>
              <a:t>पै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sound-only tap does not count as an answer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dragging while the VO plays.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an </a:t>
            </a:r>
            <a:r>
              <a:rPr lang="en-GB" dirty="0" err="1"/>
              <a:t>अक्षर</a:t>
            </a:r>
            <a:r>
              <a:rPr lang="en-GB" dirty="0"/>
              <a:t> into a word’s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Correct combinations: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</a:t>
            </a:r>
            <a:r>
              <a:rPr lang="en-GB" b="1" dirty="0"/>
              <a:t> + ब = </a:t>
            </a:r>
            <a:r>
              <a:rPr lang="en-GB" b="1" dirty="0" err="1"/>
              <a:t>सेब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</a:t>
            </a:r>
            <a:r>
              <a:rPr lang="en-GB" b="1" dirty="0"/>
              <a:t> + र = </a:t>
            </a:r>
            <a:r>
              <a:rPr lang="en-GB" b="1" dirty="0" err="1"/>
              <a:t>पैर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मे</a:t>
            </a:r>
            <a:r>
              <a:rPr lang="en-GB" b="1" dirty="0"/>
              <a:t> + </a:t>
            </a:r>
            <a:r>
              <a:rPr lang="en-GB" b="1" dirty="0" err="1"/>
              <a:t>ज़</a:t>
            </a:r>
            <a:r>
              <a:rPr lang="en-GB" b="1" dirty="0"/>
              <a:t> = </a:t>
            </a:r>
            <a:r>
              <a:rPr lang="en-GB" b="1" dirty="0" err="1"/>
              <a:t>मेज़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card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each blank the same neutral hover highlight, without indicating whether the option is correct.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Accept a placement only when the completed word matches the picture. For example, </a:t>
            </a:r>
            <a:r>
              <a:rPr lang="en-GB" b="1" dirty="0" err="1"/>
              <a:t>बै</a:t>
            </a:r>
            <a:r>
              <a:rPr lang="en-GB" b="1" dirty="0"/>
              <a:t> + र</a:t>
            </a:r>
            <a:r>
              <a:rPr lang="en-GB" dirty="0"/>
              <a:t> forms </a:t>
            </a:r>
            <a:r>
              <a:rPr lang="en-GB" b="1" dirty="0" err="1"/>
              <a:t>बैर</a:t>
            </a:r>
            <a:r>
              <a:rPr lang="en-GB" dirty="0"/>
              <a:t>, but it does not match the foot picture.</a:t>
            </a:r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</a:t>
            </a:r>
            <a:r>
              <a:rPr lang="en-GB" dirty="0" err="1"/>
              <a:t>अक्षर</a:t>
            </a:r>
            <a:r>
              <a:rPr lang="en-GB" dirty="0"/>
              <a:t> into the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its target </a:t>
            </a:r>
            <a:r>
              <a:rPr lang="en-GB" dirty="0" err="1"/>
              <a:t>matra</a:t>
            </a:r>
            <a:r>
              <a:rPr lang="en-GB" dirty="0"/>
              <a:t> in red.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word and its used </a:t>
            </a:r>
            <a:r>
              <a:rPr lang="en-GB" dirty="0" err="1"/>
              <a:t>अक्षर</a:t>
            </a:r>
            <a:r>
              <a:rPr lang="en-GB" dirty="0"/>
              <a:t> card.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पैर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गया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बन</a:t>
            </a:r>
            <a:r>
              <a:rPr lang="en-GB" b="1" dirty="0"/>
              <a:t> </a:t>
            </a:r>
            <a:r>
              <a:rPr lang="en-GB" b="1" dirty="0" err="1"/>
              <a:t>गई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</a:t>
            </a:r>
            <a:r>
              <a:rPr lang="en-GB" dirty="0" err="1"/>
              <a:t>अक्षर</a:t>
            </a:r>
            <a:r>
              <a:rPr lang="en-GB" dirty="0"/>
              <a:t>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</a:t>
            </a:r>
            <a:r>
              <a:rPr lang="en-GB" dirty="0" err="1"/>
              <a:t>अक्षर</a:t>
            </a:r>
            <a:r>
              <a:rPr lang="en-GB" dirty="0"/>
              <a:t> or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Read </a:t>
            </a:r>
            <a:r>
              <a:rPr lang="en-GB" b="1" dirty="0"/>
              <a:t>only the wrongly dropped </a:t>
            </a:r>
            <a:r>
              <a:rPr lang="en-GB" b="1" dirty="0" err="1"/>
              <a:t>अक्षर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that card and highlight its </a:t>
            </a:r>
            <a:r>
              <a:rPr lang="en-GB" dirty="0" err="1"/>
              <a:t>matra</a:t>
            </a:r>
            <a:r>
              <a:rPr lang="en-GB" dirty="0"/>
              <a:t> in red: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b="1" dirty="0"/>
              <a:t>, </a:t>
            </a:r>
            <a:r>
              <a:rPr lang="en-GB" b="1" dirty="0" err="1"/>
              <a:t>बे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</a:t>
            </a:r>
            <a:r>
              <a:rPr lang="en-GB" b="1" dirty="0"/>
              <a:t>, </a:t>
            </a:r>
            <a:r>
              <a:rPr lang="en-GB" b="1" dirty="0" err="1"/>
              <a:t>बै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relevant picture and incomplete word clearly visible so the child can compare.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option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return the card to its normal size and allow another attempt.</a:t>
            </a:r>
          </a:p>
          <a:p>
            <a:r>
              <a:rPr lang="en-GB" b="1" dirty="0"/>
              <a:t>Option VO — Play Only the Wrongly Dropped </a:t>
            </a:r>
            <a:r>
              <a:rPr lang="en-GB" b="1" dirty="0" err="1"/>
              <a:t>अक्षर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।” / “</a:t>
            </a:r>
            <a:r>
              <a:rPr lang="en-GB" b="1" dirty="0" err="1"/>
              <a:t>बै</a:t>
            </a:r>
            <a:r>
              <a:rPr lang="en-GB" b="1" dirty="0"/>
              <a:t>।” / “</a:t>
            </a:r>
            <a:r>
              <a:rPr lang="en-GB" b="1" dirty="0" err="1"/>
              <a:t>मे</a:t>
            </a:r>
            <a:r>
              <a:rPr lang="en-GB" b="1" dirty="0"/>
              <a:t>।” / “</a:t>
            </a:r>
            <a:r>
              <a:rPr lang="en-GB" b="1" dirty="0" err="1"/>
              <a:t>बे</a:t>
            </a:r>
            <a:r>
              <a:rPr lang="en-GB" b="1" dirty="0"/>
              <a:t>।” / “</a:t>
            </a:r>
            <a:r>
              <a:rPr lang="en-GB" b="1" dirty="0" err="1"/>
              <a:t>पै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अक्षर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the wrong card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correct </a:t>
            </a:r>
            <a:r>
              <a:rPr lang="en-GB" dirty="0" err="1"/>
              <a:t>अक्षर</a:t>
            </a:r>
            <a:r>
              <a:rPr lang="en-GB" dirty="0"/>
              <a:t> and its matching blank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lock all other options and destinations.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drag the </a:t>
            </a:r>
            <a:r>
              <a:rPr lang="en-GB" dirty="0" err="1"/>
              <a:t>अक्षर</a:t>
            </a:r>
            <a:r>
              <a:rPr lang="en-GB" dirty="0"/>
              <a:t> into the blank. Do not complete the word automatically.</a:t>
            </a:r>
          </a:p>
          <a:p>
            <a:r>
              <a:rPr lang="en-GB" b="1" dirty="0"/>
              <a:t>VO for </a:t>
            </a:r>
            <a:r>
              <a:rPr lang="en-GB" b="1" dirty="0" err="1"/>
              <a:t>सेब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</a:t>
            </a:r>
            <a:r>
              <a:rPr lang="en-GB" b="1" dirty="0" err="1"/>
              <a:t>पैर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पै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पैर</a:t>
            </a:r>
            <a:r>
              <a:rPr lang="en-GB" b="1" dirty="0"/>
              <a:t> </a:t>
            </a:r>
            <a:r>
              <a:rPr lang="en-GB" b="1" dirty="0" err="1"/>
              <a:t>बनता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पै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VO for </a:t>
            </a:r>
            <a:r>
              <a:rPr lang="en-GB" b="1" dirty="0" err="1"/>
              <a:t>मेज़</a:t>
            </a:r>
            <a:r>
              <a:rPr lang="en-GB" b="1" dirty="0"/>
              <a:t>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मे</a:t>
            </a:r>
            <a:r>
              <a:rPr lang="en-GB" b="1" dirty="0"/>
              <a:t> </a:t>
            </a:r>
            <a:r>
              <a:rPr lang="en-GB" b="1" dirty="0" err="1"/>
              <a:t>लगाने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मेज़</a:t>
            </a:r>
            <a:r>
              <a:rPr lang="en-GB" b="1" dirty="0"/>
              <a:t> </a:t>
            </a:r>
            <a:r>
              <a:rPr lang="en-GB" b="1" dirty="0" err="1"/>
              <a:t>बनती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मे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animate the hand from the correct </a:t>
            </a:r>
            <a:r>
              <a:rPr lang="en-GB" dirty="0" err="1"/>
              <a:t>अक्षर</a:t>
            </a:r>
            <a:r>
              <a:rPr lang="en-GB" dirty="0"/>
              <a:t> to its matching blank.</a:t>
            </a:r>
          </a:p>
          <a:p>
            <a:r>
              <a:rPr lang="en-GB" b="1" dirty="0"/>
              <a:t>Distractor Handling and Attempt Counts: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 separate wrong-attempt counter for each correct </a:t>
            </a:r>
            <a:r>
              <a:rPr lang="en-GB" dirty="0" err="1"/>
              <a:t>अक्षर</a:t>
            </a:r>
            <a:r>
              <a:rPr lang="en-GB" dirty="0"/>
              <a:t> card: </a:t>
            </a:r>
            <a:r>
              <a:rPr lang="en-GB" b="1" dirty="0" err="1"/>
              <a:t>से</a:t>
            </a:r>
            <a:r>
              <a:rPr lang="en-GB" b="1" dirty="0"/>
              <a:t>, </a:t>
            </a:r>
            <a:r>
              <a:rPr lang="en-GB" b="1" dirty="0" err="1"/>
              <a:t>पै</a:t>
            </a:r>
            <a:r>
              <a:rPr lang="en-GB" b="1" dirty="0"/>
              <a:t>, </a:t>
            </a:r>
            <a:r>
              <a:rPr lang="en-GB" b="1" dirty="0" err="1"/>
              <a:t>मे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its counter if the child switches cards. A new card starts at zero.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At Hint 3, guide that </a:t>
            </a:r>
            <a:r>
              <a:rPr lang="en-GB" dirty="0" err="1"/>
              <a:t>अक्षर</a:t>
            </a:r>
            <a:r>
              <a:rPr lang="en-GB" dirty="0"/>
              <a:t> to its matching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wrong drop of </a:t>
            </a:r>
            <a:r>
              <a:rPr lang="en-GB" b="1" dirty="0" err="1"/>
              <a:t>बै</a:t>
            </a:r>
            <a:r>
              <a:rPr lang="en-GB" dirty="0"/>
              <a:t> or </a:t>
            </a:r>
            <a:r>
              <a:rPr lang="en-GB" b="1" dirty="0" err="1"/>
              <a:t>बे</a:t>
            </a:r>
            <a:r>
              <a:rPr lang="en-GB" dirty="0"/>
              <a:t> also counts as an attempt. Track these errors against the unfinished blank where the distractor was dropped.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बै</a:t>
            </a:r>
            <a:r>
              <a:rPr lang="en-GB" dirty="0"/>
              <a:t> and </a:t>
            </a:r>
            <a:r>
              <a:rPr lang="en-GB" b="1" dirty="0" err="1"/>
              <a:t>बे</a:t>
            </a:r>
            <a:r>
              <a:rPr lang="en-GB" dirty="0"/>
              <a:t> must not reset that blank’s distractor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third distractor error for a blank, reveal the correct </a:t>
            </a:r>
            <a:r>
              <a:rPr lang="en-GB" dirty="0" err="1"/>
              <a:t>अक्षर</a:t>
            </a:r>
            <a:r>
              <a:rPr lang="en-GB" dirty="0"/>
              <a:t> for that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release outside all blanks simply returns the card and does not count as an answer attempt.</a:t>
            </a:r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correct </a:t>
            </a:r>
            <a:r>
              <a:rPr lang="en-GB" dirty="0" err="1"/>
              <a:t>अक्षर</a:t>
            </a:r>
            <a:r>
              <a:rPr lang="en-GB" dirty="0"/>
              <a:t> into place.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the completed word and highlight its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completed word and re-enable the remaining unfinished items.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Finish when </a:t>
            </a:r>
            <a:r>
              <a:rPr lang="en-GB" b="1" dirty="0" err="1"/>
              <a:t>सेब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b="1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 are complete.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Leave the unused distractors in the tray and disable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all three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completion.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all SFX below the VO volume.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completed words locked throughout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Stop an item’s hint sequence immediately if the child answers correctly earlier.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Preserve the </a:t>
            </a:r>
            <a:r>
              <a:rPr lang="en-GB" dirty="0" err="1"/>
              <a:t>nukta</a:t>
            </a:r>
            <a:r>
              <a:rPr lang="en-GB" dirty="0"/>
              <a:t> in </a:t>
            </a:r>
            <a:r>
              <a:rPr lang="en-GB" b="1" dirty="0" err="1"/>
              <a:t>ज़</a:t>
            </a:r>
            <a:r>
              <a:rPr lang="en-GB" dirty="0"/>
              <a:t> when displaying </a:t>
            </a:r>
            <a:r>
              <a:rPr lang="en-GB" b="1" dirty="0"/>
              <a:t>_</a:t>
            </a:r>
            <a:r>
              <a:rPr lang="en-GB" b="1" dirty="0" err="1"/>
              <a:t>ज़</a:t>
            </a:r>
            <a:r>
              <a:rPr lang="en-GB" dirty="0"/>
              <a:t> and </a:t>
            </a:r>
            <a:r>
              <a:rPr lang="en-GB" b="1" dirty="0" err="1"/>
              <a:t>मेज़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only the target </a:t>
            </a:r>
            <a:r>
              <a:rPr lang="en-GB" dirty="0" err="1"/>
              <a:t>matra</a:t>
            </a:r>
            <a:r>
              <a:rPr lang="en-GB" dirty="0"/>
              <a:t>, keeping consonants, headline and </a:t>
            </a:r>
            <a:r>
              <a:rPr lang="en-GB" dirty="0" err="1"/>
              <a:t>nukta</a:t>
            </a:r>
            <a:r>
              <a:rPr lang="en-GB" dirty="0"/>
              <a:t> unchanged.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914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  <a:endParaRPr lang="en-GB" dirty="0"/>
          </a:p>
          <a:p>
            <a:r>
              <a:rPr lang="en-GB" b="1" dirty="0"/>
              <a:t>Picture Change:</a:t>
            </a:r>
            <a:endParaRPr lang="en-GB" dirty="0"/>
          </a:p>
          <a:p>
            <a:r>
              <a:rPr lang="en-GB" dirty="0"/>
              <a:t>Use these four picture options in this order: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पेड़</a:t>
            </a:r>
            <a:r>
              <a:rPr lang="en-GB" b="1" dirty="0"/>
              <a:t>, </a:t>
            </a:r>
            <a:r>
              <a:rPr lang="en-GB" b="1" dirty="0" err="1"/>
              <a:t>गैस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r>
              <a:rPr lang="en-GB" b="1" dirty="0"/>
              <a:t>Activity Concept: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train with </a:t>
            </a:r>
            <a:r>
              <a:rPr lang="en-GB" b="1" dirty="0"/>
              <a:t>two coaches</a:t>
            </a:r>
            <a:r>
              <a:rPr lang="en-GB" dirty="0"/>
              <a:t>, labelled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inside of each coach empty as a drop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</a:t>
            </a:r>
            <a:r>
              <a:rPr lang="en-GB" b="1" dirty="0"/>
              <a:t>picture cards only</a:t>
            </a:r>
            <a:r>
              <a:rPr lang="en-GB" dirty="0"/>
              <a:t> below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listens to each picture’s name and drags it into the correct </a:t>
            </a:r>
            <a:r>
              <a:rPr lang="en-GB" dirty="0" err="1"/>
              <a:t>डिब्बा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initial question free of written picture names.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During </a:t>
            </a:r>
            <a:r>
              <a:rPr lang="en-GB" b="1" dirty="0"/>
              <a:t>Hint 2</a:t>
            </a:r>
            <a:r>
              <a:rPr lang="en-GB" dirty="0"/>
              <a:t>, temporarily show the wrongly dropped picture’s name and highlight its </a:t>
            </a:r>
            <a:r>
              <a:rPr lang="en-GB" dirty="0" err="1"/>
              <a:t>matra</a:t>
            </a:r>
            <a:r>
              <a:rPr lang="en-GB" dirty="0"/>
              <a:t>.</a:t>
            </a:r>
          </a:p>
          <a:p>
            <a:r>
              <a:rPr lang="en-GB" b="1" dirty="0"/>
              <a:t>Heading / Question Text: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Entry Animation: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train enters smoothly </a:t>
            </a:r>
            <a:r>
              <a:rPr lang="en-GB" b="1" dirty="0"/>
              <a:t>from right to left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stops at the centre.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Coach labels </a:t>
            </a:r>
            <a:r>
              <a:rPr lang="en-GB" b="1" dirty="0"/>
              <a:t>ए</a:t>
            </a:r>
            <a:r>
              <a:rPr lang="en-GB" dirty="0"/>
              <a:t> and </a:t>
            </a:r>
            <a:r>
              <a:rPr lang="en-GB" b="1" dirty="0"/>
              <a:t>ऐ</a:t>
            </a:r>
            <a:r>
              <a:rPr lang="en-GB" dirty="0"/>
              <a:t>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Picture cards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पेड़</a:t>
            </a:r>
            <a:r>
              <a:rPr lang="en-GB" b="1" dirty="0"/>
              <a:t>, </a:t>
            </a:r>
            <a:r>
              <a:rPr lang="en-GB" b="1" dirty="0" err="1"/>
              <a:t>गैस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dirty="0"/>
              <a:t> appear below the train.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the instruction VO before enabling interaction.</a:t>
            </a:r>
          </a:p>
          <a:p>
            <a:r>
              <a:rPr lang="en-GB" b="1" dirty="0"/>
              <a:t>On Screen: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First coach label: </a:t>
            </a:r>
            <a:r>
              <a:rPr lang="en-GB" b="1" dirty="0"/>
              <a:t>ए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Second coach label: </a:t>
            </a:r>
            <a:r>
              <a:rPr lang="en-GB" b="1" dirty="0"/>
              <a:t>ऐ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add </a:t>
            </a:r>
            <a:r>
              <a:rPr lang="en-GB" dirty="0" err="1"/>
              <a:t>matra</a:t>
            </a:r>
            <a:r>
              <a:rPr lang="en-GB" dirty="0"/>
              <a:t> symbols to the coach labels.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four pictures clear and equally prominent.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picture names or correct-answer cues initially.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existing mascot and train UI/UX style unchanged.</a:t>
            </a:r>
          </a:p>
          <a:p>
            <a:r>
              <a:rPr lang="en-GB" b="1" dirty="0"/>
              <a:t>Image Requirements: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A recognisable lion with a clear mane.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r>
              <a:rPr lang="en-GB" b="1" dirty="0"/>
              <a:t>:</a:t>
            </a:r>
            <a:r>
              <a:rPr lang="en-GB" dirty="0"/>
              <a:t> A complete tree with a visible trunk and green canopy.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गैस</a:t>
            </a:r>
            <a:r>
              <a:rPr lang="en-GB" b="1" dirty="0"/>
              <a:t>:</a:t>
            </a:r>
            <a:r>
              <a:rPr lang="en-GB" dirty="0"/>
              <a:t> A familiar kitchen gas stove with a visible blue burner flame. Pair it with the spoken name </a:t>
            </a:r>
            <a:r>
              <a:rPr lang="en-GB" b="1" dirty="0"/>
              <a:t>“</a:t>
            </a:r>
            <a:r>
              <a:rPr lang="en-GB" b="1" dirty="0" err="1"/>
              <a:t>गैस</a:t>
            </a:r>
            <a:r>
              <a:rPr lang="en-GB" b="1" dirty="0"/>
              <a:t>”</a:t>
            </a:r>
            <a:r>
              <a:rPr lang="en-GB" dirty="0"/>
              <a:t> to establish the intended word.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A recognisable bare foot with clearly visible toes and a small portion of the ankle.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consistent, child-friendly artwork without distracting backgrounds.</a:t>
            </a:r>
          </a:p>
          <a:p>
            <a:r>
              <a:rPr lang="en-GB" b="1" dirty="0"/>
              <a:t>Instruction 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का</a:t>
            </a:r>
            <a:r>
              <a:rPr lang="en-GB" b="1" dirty="0"/>
              <a:t> </a:t>
            </a:r>
            <a:r>
              <a:rPr lang="en-GB" b="1" dirty="0" err="1"/>
              <a:t>नाम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उसे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Picture-name VO:</a:t>
            </a:r>
            <a:endParaRPr lang="en-GB" dirty="0"/>
          </a:p>
          <a:p>
            <a:r>
              <a:rPr lang="en-GB" dirty="0"/>
              <a:t>When the child taps a picture,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पेड़</a:t>
            </a:r>
            <a:r>
              <a:rPr lang="en-GB" b="1" dirty="0"/>
              <a:t>।” / “</a:t>
            </a:r>
            <a:r>
              <a:rPr lang="en-GB" b="1" dirty="0" err="1"/>
              <a:t>गैस</a:t>
            </a:r>
            <a:r>
              <a:rPr lang="en-GB" b="1" dirty="0"/>
              <a:t>।” / “</a:t>
            </a:r>
            <a:r>
              <a:rPr lang="en-GB" b="1" dirty="0" err="1"/>
              <a:t>पैर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does not count as an answer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 drag begins before the name has been heard, play the name first and enable dragging after the VO finishes.</a:t>
            </a:r>
          </a:p>
          <a:p>
            <a:r>
              <a:rPr lang="en-GB" b="1" dirty="0"/>
              <a:t>Drag and Drop: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child drags each picture into its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coach accepts two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Slightly enlarge the selected picture while dragging.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the same neutral hover highlight for either coach, without indicating correctness.</a:t>
            </a:r>
          </a:p>
          <a:p>
            <a:r>
              <a:rPr lang="en-GB" b="1" dirty="0"/>
              <a:t>Correct Mapping:</a:t>
            </a:r>
            <a:endParaRPr lang="en-GB" dirty="0"/>
          </a:p>
          <a:p>
            <a:r>
              <a:rPr lang="en-GB" dirty="0" err="1"/>
              <a:t>PictureCorrect</a:t>
            </a:r>
            <a:r>
              <a:rPr lang="en-GB" dirty="0"/>
              <a:t> </a:t>
            </a:r>
            <a:r>
              <a:rPr lang="en-GB" dirty="0" err="1"/>
              <a:t>डिब्बाशेरएपेड़एगैसऐपैरऐ</a:t>
            </a:r>
            <a:endParaRPr lang="en-GB" dirty="0"/>
          </a:p>
          <a:p>
            <a:r>
              <a:rPr lang="en-GB" b="1" dirty="0"/>
              <a:t>Correct Placement: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picture inside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placed pictures clearly visible without overlap.</a:t>
            </a:r>
          </a:p>
          <a:p>
            <a:r>
              <a:rPr lang="en-GB" b="1" dirty="0"/>
              <a:t>Correct Response 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गैस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पैर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wrongly dropped picture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Replay only that picture’s name.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its written name, highlight a coach or add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सुनिए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Play the current picture’s name, 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picture card and return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Replay </a:t>
            </a:r>
            <a:r>
              <a:rPr lang="en-GB" b="1" dirty="0"/>
              <a:t>only the wrongly dropped picture’s name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display its word underneath the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Highlight its </a:t>
            </a:r>
            <a:r>
              <a:rPr lang="en-GB" dirty="0" err="1"/>
              <a:t>matra</a:t>
            </a:r>
            <a:r>
              <a:rPr lang="en-GB" dirty="0"/>
              <a:t> in red using the teaching-screen style: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श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r>
              <a:rPr lang="en-GB" b="1" dirty="0"/>
              <a:t>:</a:t>
            </a:r>
            <a:r>
              <a:rPr lang="en-GB" dirty="0"/>
              <a:t> Highlight </a:t>
            </a:r>
            <a:r>
              <a:rPr lang="en-GB" b="1" dirty="0"/>
              <a:t>े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गैस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ग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 err="1"/>
              <a:t>पैर</a:t>
            </a:r>
            <a:r>
              <a:rPr lang="en-GB" b="1" dirty="0"/>
              <a:t>:</a:t>
            </a:r>
            <a:r>
              <a:rPr lang="en-GB" dirty="0"/>
              <a:t> Highlight both strokes of </a:t>
            </a:r>
            <a:r>
              <a:rPr lang="en-GB" b="1" dirty="0"/>
              <a:t>ै</a:t>
            </a:r>
            <a:r>
              <a:rPr lang="en-GB" dirty="0"/>
              <a:t> above </a:t>
            </a:r>
            <a:r>
              <a:rPr lang="en-GB" b="1" dirty="0"/>
              <a:t>प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the consonants, headline and </a:t>
            </a:r>
            <a:r>
              <a:rPr lang="en-GB" dirty="0" err="1"/>
              <a:t>nukta</a:t>
            </a:r>
            <a:r>
              <a:rPr lang="en-GB" dirty="0"/>
              <a:t> in </a:t>
            </a:r>
            <a:r>
              <a:rPr lang="en-GB" b="1" dirty="0" err="1"/>
              <a:t>पेड़</a:t>
            </a:r>
            <a:r>
              <a:rPr lang="en-GB" dirty="0"/>
              <a:t> unchanged.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this word support visible for the next attempt.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correct coach or show a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either destination.</a:t>
            </a:r>
          </a:p>
          <a:p>
            <a:r>
              <a:rPr lang="en-GB" b="1" dirty="0"/>
              <a:t>Word VO — Play Only the Current Word:</a:t>
            </a:r>
            <a:endParaRPr lang="en-GB" dirty="0"/>
          </a:p>
          <a:p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पेड़</a:t>
            </a:r>
            <a:r>
              <a:rPr lang="en-GB" b="1" dirty="0"/>
              <a:t>।” / “</a:t>
            </a:r>
            <a:r>
              <a:rPr lang="en-GB" b="1" dirty="0" err="1"/>
              <a:t>गैस</a:t>
            </a:r>
            <a:r>
              <a:rPr lang="en-GB" b="1" dirty="0"/>
              <a:t>।” / “</a:t>
            </a:r>
            <a:r>
              <a:rPr lang="en-GB" b="1" dirty="0" err="1"/>
              <a:t>पैर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 for That Picture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the wrongly dropped picture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Give the picture and its correct coach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wrong coach as a destination for that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Temporarily disable other unfinished pictures.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After the VO finishes, allow only the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Wait for the child to drag the picture. Do not place it automatically.</a:t>
            </a:r>
          </a:p>
          <a:p>
            <a:r>
              <a:rPr lang="en-GB" b="1" dirty="0"/>
              <a:t>VO — Play Only the Matching Line: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ए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ए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गैस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पैर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इसे</a:t>
            </a:r>
            <a:r>
              <a:rPr lang="en-GB" b="1" dirty="0"/>
              <a:t> ऐ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डिब्बे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Confirm with </a:t>
            </a:r>
            <a:r>
              <a:rPr lang="en-GB" b="1" dirty="0"/>
              <a:t>Ankita</a:t>
            </a:r>
            <a:r>
              <a:rPr lang="en-GB" dirty="0"/>
              <a:t> whether Hint 3 should include a hand drag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Pending confirmation, use </a:t>
            </a:r>
            <a:r>
              <a:rPr lang="en-GB" b="1" dirty="0"/>
              <a:t>glow and lock without a hand</a:t>
            </a:r>
            <a:r>
              <a:rPr lang="en-GB" dirty="0"/>
              <a:t>, following the earlier practice QA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approved, show the hand moving from the current picture to its correct coach.</a:t>
            </a:r>
          </a:p>
          <a:p>
            <a:r>
              <a:rPr lang="en-GB" b="1" dirty="0"/>
              <a:t>Correct Placement After Hint 3: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Snap the picture into the correct coach.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the temporary word support and any hand nudge.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Show a small sparkle and play a success chime.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Lock the placed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additional VO is needed because Hint 3 has already explained the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Re-enable the remaining unfinished pictures.</a:t>
            </a:r>
          </a:p>
          <a:p>
            <a:r>
              <a:rPr lang="en-GB" b="1" dirty="0"/>
              <a:t>Completion: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When all four pictures are correctly sorted, give both coaches a soft glow.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Play a brief train whistle with a subtle steam animation.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feedback finishes.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extra completion VO is required.</a:t>
            </a:r>
          </a:p>
          <a:p>
            <a:r>
              <a:rPr lang="en-GB" b="1" dirty="0"/>
              <a:t>SFX: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train arrival/whistle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 or 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correct placement.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Activate it only after all four pictures are correctly placed and feedback finishes.</a:t>
            </a:r>
          </a:p>
          <a:p>
            <a:r>
              <a:rPr lang="en-GB" b="1" dirty="0"/>
              <a:t>Developer Notes: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Update the picture assets, associated word audio and answer mappings to </a:t>
            </a:r>
            <a:r>
              <a:rPr lang="en-GB" b="1" dirty="0" err="1"/>
              <a:t>शेर</a:t>
            </a:r>
            <a:r>
              <a:rPr lang="en-GB" b="1" dirty="0"/>
              <a:t>, </a:t>
            </a:r>
            <a:r>
              <a:rPr lang="en-GB" b="1" dirty="0" err="1"/>
              <a:t>पेड़</a:t>
            </a:r>
            <a:r>
              <a:rPr lang="en-GB" b="1" dirty="0"/>
              <a:t>, </a:t>
            </a:r>
            <a:r>
              <a:rPr lang="en-GB" b="1" dirty="0" err="1"/>
              <a:t>गैस</a:t>
            </a:r>
            <a:r>
              <a:rPr lang="en-GB" b="1" dirty="0"/>
              <a:t>, </a:t>
            </a:r>
            <a:r>
              <a:rPr lang="en-GB" b="1" dirty="0" err="1"/>
              <a:t>पैर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</a:t>
            </a:r>
            <a:r>
              <a:rPr lang="en-GB" b="1" dirty="0"/>
              <a:t>any VO</a:t>
            </a:r>
            <a:r>
              <a:rPr lang="en-GB" dirty="0"/>
              <a:t>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Maintain a separate wrong-attempt counter for each picture.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Each new picture starts at zero. Switching pictures must not reset an existing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Count a drop into the wrong coach as one wrong attempt. Name-only taps and releases outside both coaches do not count.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Keep correctly placed pictures locked during later hints.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Remove temporary word support when its picture is correctly placed.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stop that picture’s hint sequence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848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</a:p>
          <a:p>
            <a:r>
              <a:rPr lang="en-GB" b="1" dirty="0"/>
              <a:t>Activity Concept:</a:t>
            </a:r>
          </a:p>
          <a:p>
            <a:r>
              <a:rPr lang="en-GB" dirty="0"/>
              <a:t>This is a picture-based sentence completion activity.</a:t>
            </a:r>
            <a:br>
              <a:rPr lang="en-GB" dirty="0"/>
            </a:br>
            <a:r>
              <a:rPr lang="en-GB" dirty="0"/>
              <a:t>The child looks at the scene, listens to the sentence and drags the correct word card into the blank.</a:t>
            </a:r>
            <a:br>
              <a:rPr lang="en-GB" dirty="0"/>
            </a:br>
            <a:r>
              <a:rPr lang="en-GB" dirty="0"/>
              <a:t>The focus is on understanding the meaning of a sentence and selecting the appropriate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वाले</a:t>
            </a:r>
            <a:r>
              <a:rPr lang="en-GB" dirty="0"/>
              <a:t> </a:t>
            </a:r>
            <a:r>
              <a:rPr lang="en-GB" dirty="0" err="1"/>
              <a:t>शब्द</a:t>
            </a:r>
            <a:r>
              <a:rPr lang="en-GB" dirty="0"/>
              <a:t> in a meaningful context.</a:t>
            </a:r>
          </a:p>
          <a:p>
            <a:r>
              <a:rPr lang="en-GB" b="1" dirty="0"/>
              <a:t>Heading / Question Text: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</a:p>
          <a:p>
            <a:r>
              <a:rPr lang="en-GB" dirty="0"/>
              <a:t>Keep the garden scene on the left and the sentence on the right.</a:t>
            </a:r>
          </a:p>
          <a:p>
            <a:r>
              <a:rPr lang="en-GB" dirty="0"/>
              <a:t>Sentence: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___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Show three picture-and-word options below the sentence: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पेड़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तेल</a:t>
            </a:r>
            <a:endParaRPr lang="en-GB" dirty="0"/>
          </a:p>
          <a:p>
            <a:r>
              <a:rPr lang="en-GB" dirty="0"/>
              <a:t>Update the main scene to show a </a:t>
            </a:r>
            <a:r>
              <a:rPr lang="en-GB" b="1" dirty="0"/>
              <a:t>simple garden with one clear large tree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Remove the child/person and any extra elements from the scene to avoid confusion.</a:t>
            </a:r>
            <a:br>
              <a:rPr lang="en-GB" dirty="0"/>
            </a:br>
            <a:r>
              <a:rPr lang="en-GB" dirty="0"/>
              <a:t>Keep the tree as the main focus because the child has to connect the picture with the sentence meaning.</a:t>
            </a:r>
          </a:p>
          <a:p>
            <a:r>
              <a:rPr lang="en-GB" dirty="0"/>
              <a:t>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clear single tree image for </a:t>
            </a:r>
            <a:r>
              <a:rPr lang="en-GB" b="1" dirty="0" err="1"/>
              <a:t>पेड़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recognisable lion image for </a:t>
            </a:r>
            <a:r>
              <a:rPr lang="en-GB" b="1" dirty="0" err="1"/>
              <a:t>शेर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simple oil bottle image for </a:t>
            </a:r>
            <a:r>
              <a:rPr lang="en-GB" b="1" dirty="0" err="1"/>
              <a:t>तेल</a:t>
            </a:r>
            <a:r>
              <a:rPr lang="en-GB" dirty="0"/>
              <a:t>.</a:t>
            </a:r>
          </a:p>
          <a:p>
            <a:r>
              <a:rPr lang="en-GB" dirty="0"/>
              <a:t>Do not highlight the correct option or the tree in the scene initially.</a:t>
            </a:r>
            <a:br>
              <a:rPr lang="en-GB" dirty="0"/>
            </a:b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</a:p>
          <a:p>
            <a:r>
              <a:rPr lang="en-GB" dirty="0"/>
              <a:t>The main picture appears first.</a:t>
            </a:r>
            <a:br>
              <a:rPr lang="en-GB" dirty="0"/>
            </a:br>
            <a:r>
              <a:rPr lang="en-GB" dirty="0"/>
              <a:t>The sentence appears with an empty blank.</a:t>
            </a:r>
            <a:br>
              <a:rPr lang="en-GB" dirty="0"/>
            </a:br>
            <a:r>
              <a:rPr lang="en-GB" dirty="0"/>
              <a:t>The three option cards fade in one by one.</a:t>
            </a:r>
            <a:br>
              <a:rPr lang="en-GB" dirty="0"/>
            </a:b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</a:p>
          <a:p>
            <a:r>
              <a:rPr lang="en-GB" dirty="0"/>
              <a:t>Read: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…”</a:t>
            </a:r>
            <a:endParaRPr lang="en-GB" dirty="0"/>
          </a:p>
          <a:p>
            <a:r>
              <a:rPr lang="en-GB" dirty="0"/>
              <a:t>Pause at the blank, then say:</a:t>
            </a:r>
          </a:p>
          <a:p>
            <a:r>
              <a:rPr lang="en-GB" b="1" dirty="0"/>
              <a:t>“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पेड़</a:t>
            </a:r>
            <a:r>
              <a:rPr lang="en-GB" b="1" dirty="0"/>
              <a:t>।” / 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तेल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 tap plays the word’s name.</a:t>
            </a:r>
            <a:br>
              <a:rPr lang="en-GB" dirty="0"/>
            </a:br>
            <a:r>
              <a:rPr lang="en-GB" dirty="0"/>
              <a:t>A drag into the blank submits the answer.</a:t>
            </a:r>
            <a:br>
              <a:rPr lang="en-GB" dirty="0"/>
            </a:b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पेड़</a:t>
            </a:r>
            <a:endParaRPr lang="en-GB" b="1" dirty="0"/>
          </a:p>
          <a:p>
            <a:r>
              <a:rPr lang="en-GB" dirty="0"/>
              <a:t>Snap the </a:t>
            </a:r>
            <a:r>
              <a:rPr lang="en-GB" b="1" dirty="0" err="1"/>
              <a:t>पेड़</a:t>
            </a:r>
            <a:r>
              <a:rPr lang="en-GB" dirty="0"/>
              <a:t> card into the blank.</a:t>
            </a:r>
          </a:p>
          <a:p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Give the correct answer a soft glow.</a:t>
            </a:r>
            <a:br>
              <a:rPr lang="en-GB" dirty="0"/>
            </a:br>
            <a:r>
              <a:rPr lang="en-GB" dirty="0"/>
              <a:t>Show a small sparkle/confetti effect.</a:t>
            </a:r>
            <a:br>
              <a:rPr lang="en-GB" dirty="0"/>
            </a:b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</a:p>
          <a:p>
            <a:r>
              <a:rPr lang="en-GB" dirty="0"/>
              <a:t>If the child drops </a:t>
            </a:r>
            <a:r>
              <a:rPr lang="en-GB" b="1" dirty="0" err="1"/>
              <a:t>शेर</a:t>
            </a:r>
            <a:r>
              <a:rPr lang="en-GB" dirty="0"/>
              <a:t> or </a:t>
            </a:r>
            <a:r>
              <a:rPr lang="en-GB" b="1" dirty="0" err="1"/>
              <a:t>तेल</a:t>
            </a:r>
            <a:r>
              <a:rPr lang="en-GB" dirty="0"/>
              <a:t> into the blank: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tree, any option or any </a:t>
            </a:r>
            <a:r>
              <a:rPr lang="en-GB" dirty="0" err="1"/>
              <a:t>मात्रा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</a:p>
          <a:p>
            <a:r>
              <a:rPr lang="en-GB" dirty="0"/>
              <a:t>Softly shake the wrong card and return it.</a:t>
            </a:r>
          </a:p>
          <a:p>
            <a:r>
              <a:rPr lang="en-GB" dirty="0"/>
              <a:t>Read the full sentence with each option, one at a time, from left to right.</a:t>
            </a:r>
          </a:p>
          <a:p>
            <a:r>
              <a:rPr lang="en-GB" dirty="0"/>
              <a:t>Briefly preview each word in the blank while its sentence is spoken.</a:t>
            </a:r>
          </a:p>
          <a:p>
            <a:r>
              <a:rPr lang="en-GB" dirty="0"/>
              <a:t>Use the same neutral preview style for all three words.</a:t>
            </a:r>
            <a:br>
              <a:rPr lang="en-GB" dirty="0"/>
            </a:br>
            <a:r>
              <a:rPr lang="en-GB" dirty="0"/>
              <a:t>Do not show success feedback.</a:t>
            </a:r>
          </a:p>
          <a:p>
            <a:r>
              <a:rPr lang="en-GB" dirty="0"/>
              <a:t>Highlight the large tree in the main scene so the child can connect the picture with the sentence meaning.</a:t>
            </a:r>
          </a:p>
          <a:p>
            <a:r>
              <a:rPr lang="en-GB" dirty="0"/>
              <a:t>After all three readings, restore the empty blank.</a:t>
            </a:r>
          </a:p>
          <a:p>
            <a:r>
              <a:rPr lang="en-GB" dirty="0"/>
              <a:t>Do not glow the correct option or show a hand nudge.</a:t>
            </a:r>
          </a:p>
          <a:p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</a:p>
          <a:p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तेल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</a:p>
          <a:p>
            <a:r>
              <a:rPr lang="en-GB" dirty="0"/>
              <a:t>Softly shake the wrong card and return it.</a:t>
            </a:r>
          </a:p>
          <a:p>
            <a:r>
              <a:rPr lang="en-GB" dirty="0"/>
              <a:t>Give the </a:t>
            </a:r>
            <a:r>
              <a:rPr lang="en-GB" b="1" dirty="0" err="1"/>
              <a:t>पेड़</a:t>
            </a:r>
            <a:r>
              <a:rPr lang="en-GB" dirty="0"/>
              <a:t> option and sentence blank a soft glow.</a:t>
            </a:r>
          </a:p>
          <a:p>
            <a:r>
              <a:rPr lang="en-GB" dirty="0"/>
              <a:t>Lock </a:t>
            </a:r>
            <a:r>
              <a:rPr lang="en-GB" b="1" dirty="0" err="1"/>
              <a:t>शेर</a:t>
            </a:r>
            <a:r>
              <a:rPr lang="en-GB" dirty="0"/>
              <a:t> and </a:t>
            </a:r>
            <a:r>
              <a:rPr lang="en-GB" b="1" dirty="0" err="1"/>
              <a:t>तेल</a:t>
            </a:r>
            <a:r>
              <a:rPr lang="en-GB" dirty="0"/>
              <a:t>.</a:t>
            </a:r>
          </a:p>
          <a:p>
            <a:r>
              <a:rPr lang="en-GB" dirty="0"/>
              <a:t>After the VO finishes, allow only </a:t>
            </a:r>
            <a:r>
              <a:rPr lang="en-GB" b="1" dirty="0" err="1"/>
              <a:t>पेड़</a:t>
            </a:r>
            <a:r>
              <a:rPr lang="en-GB" dirty="0"/>
              <a:t> to be dragged into the blank.</a:t>
            </a:r>
          </a:p>
          <a:p>
            <a:r>
              <a:rPr lang="en-GB" dirty="0"/>
              <a:t>Wait for the child to complete the action.</a:t>
            </a:r>
            <a:br>
              <a:rPr lang="en-GB" dirty="0"/>
            </a:br>
            <a:r>
              <a:rPr lang="en-GB" dirty="0"/>
              <a:t>Do not fill the blank automatically.</a:t>
            </a:r>
          </a:p>
          <a:p>
            <a:r>
              <a:rPr lang="en-GB" b="1" dirty="0"/>
              <a:t>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बगीचे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एक</a:t>
            </a:r>
            <a:r>
              <a:rPr lang="en-GB" b="1" dirty="0"/>
              <a:t> </a:t>
            </a:r>
            <a:r>
              <a:rPr lang="en-GB" b="1" dirty="0" err="1"/>
              <a:t>बड़ा</a:t>
            </a:r>
            <a:r>
              <a:rPr lang="en-GB" b="1" dirty="0"/>
              <a:t>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पेड़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</a:p>
          <a:p>
            <a:r>
              <a:rPr lang="en-GB" dirty="0"/>
              <a:t>Confirm with Ankita whether Hint 3 should include a hand drag nudge.</a:t>
            </a:r>
          </a:p>
          <a:p>
            <a:r>
              <a:rPr lang="en-GB" dirty="0"/>
              <a:t>Pending confirmation, use glow and lock without a hand, following the earlier practice QA feedback.</a:t>
            </a:r>
          </a:p>
          <a:p>
            <a:r>
              <a:rPr lang="en-GB" dirty="0"/>
              <a:t>If approved, show the hand moving from </a:t>
            </a:r>
            <a:r>
              <a:rPr lang="en-GB" b="1" dirty="0" err="1"/>
              <a:t>पेड़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</a:p>
          <a:p>
            <a:r>
              <a:rPr lang="en-GB" dirty="0"/>
              <a:t>Snap </a:t>
            </a:r>
            <a:r>
              <a:rPr lang="en-GB" b="1" dirty="0" err="1"/>
              <a:t>पेड़</a:t>
            </a:r>
            <a:r>
              <a:rPr lang="en-GB" dirty="0"/>
              <a:t> into the blank.</a:t>
            </a:r>
          </a:p>
          <a:p>
            <a:r>
              <a:rPr lang="en-GB" dirty="0"/>
              <a:t>Show the completed sentence.</a:t>
            </a:r>
          </a:p>
          <a:p>
            <a:r>
              <a:rPr lang="en-GB" dirty="0"/>
              <a:t>Remove any hand nudge.</a:t>
            </a:r>
          </a:p>
          <a:p>
            <a:r>
              <a:rPr lang="en-GB" dirty="0"/>
              <a:t>Show a small sparkle and play a success chime.</a:t>
            </a:r>
          </a:p>
          <a:p>
            <a:r>
              <a:rPr lang="en-GB" dirty="0"/>
              <a:t>Lock the answer.</a:t>
            </a:r>
          </a:p>
          <a:p>
            <a:r>
              <a:rPr lang="en-GB" dirty="0"/>
              <a:t>No additional VO is needed because Hint 3 has already explained it.</a:t>
            </a:r>
          </a:p>
          <a:p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</a:p>
          <a:p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r>
              <a:rPr lang="en-GB" dirty="0"/>
              <a:t>Activate it only after </a:t>
            </a:r>
            <a:r>
              <a:rPr lang="en-GB" b="1" dirty="0" err="1"/>
              <a:t>पेड़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any VO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one wrong-attempt counter for this sentence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शेर</a:t>
            </a:r>
            <a:r>
              <a:rPr lang="en-GB" dirty="0"/>
              <a:t> and </a:t>
            </a:r>
            <a:r>
              <a:rPr lang="en-GB" b="1" dirty="0" err="1"/>
              <a:t>तेल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this activity, Hint 2 highlights the relevant scene detail because the task tests sentence meaning and picture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336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</a:p>
          <a:p>
            <a:r>
              <a:rPr lang="en-GB" b="1" dirty="0"/>
              <a:t>Activity Concept:</a:t>
            </a:r>
          </a:p>
          <a:p>
            <a:r>
              <a:rPr lang="en-GB" dirty="0"/>
              <a:t>This is a picture-based sentence completion activity.</a:t>
            </a:r>
            <a:br>
              <a:rPr lang="en-GB" dirty="0"/>
            </a:br>
            <a:r>
              <a:rPr lang="en-GB" dirty="0"/>
              <a:t>The child looks at the scene, listens to the sentence and drags the correct word card into the blank.</a:t>
            </a:r>
            <a:br>
              <a:rPr lang="en-GB" dirty="0"/>
            </a:br>
            <a:r>
              <a:rPr lang="en-GB" dirty="0"/>
              <a:t>The focus is on using </a:t>
            </a:r>
            <a:r>
              <a:rPr lang="en-GB" dirty="0" err="1"/>
              <a:t>मात्रा</a:t>
            </a:r>
            <a:r>
              <a:rPr lang="en-GB" dirty="0"/>
              <a:t> </a:t>
            </a:r>
            <a:r>
              <a:rPr lang="en-GB" dirty="0" err="1"/>
              <a:t>वाले</a:t>
            </a:r>
            <a:r>
              <a:rPr lang="en-GB" dirty="0"/>
              <a:t> </a:t>
            </a:r>
            <a:r>
              <a:rPr lang="en-GB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</a:p>
          <a:p>
            <a:r>
              <a:rPr lang="en-GB" dirty="0"/>
              <a:t>Keep the eating scene on the left and the sentence on the right.</a:t>
            </a:r>
            <a:br>
              <a:rPr lang="en-GB" dirty="0"/>
            </a:br>
            <a:r>
              <a:rPr lang="en-GB" dirty="0"/>
              <a:t>Sentence: </a:t>
            </a: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___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dirty="0"/>
              <a:t>Show three picture-and-word options below the sentence: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सेब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बैग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रेल</a:t>
            </a:r>
            <a:endParaRPr lang="en-GB" dirty="0"/>
          </a:p>
          <a:p>
            <a:r>
              <a:rPr lang="en-GB" dirty="0"/>
              <a:t>Use a </a:t>
            </a:r>
            <a:r>
              <a:rPr lang="en-GB" b="1" dirty="0"/>
              <a:t>small </a:t>
            </a:r>
            <a:r>
              <a:rPr lang="en-GB" b="1" dirty="0" err="1"/>
              <a:t>रेल</a:t>
            </a:r>
            <a:r>
              <a:rPr lang="en-GB" b="1" dirty="0"/>
              <a:t> / train image</a:t>
            </a:r>
            <a:r>
              <a:rPr lang="en-GB" dirty="0"/>
              <a:t> on the third option card.</a:t>
            </a:r>
            <a:br>
              <a:rPr lang="en-GB" dirty="0"/>
            </a:br>
            <a:r>
              <a:rPr lang="en-GB" dirty="0"/>
              <a:t>Ensure the apple in the child’s hands is clearly visible and the eating action is easy to understand.</a:t>
            </a:r>
            <a:br>
              <a:rPr lang="en-GB" dirty="0"/>
            </a:br>
            <a:r>
              <a:rPr lang="en-GB" dirty="0"/>
              <a:t>Do not highlight the apple in the scene or the correct option initially.</a:t>
            </a:r>
            <a:br>
              <a:rPr lang="en-GB" dirty="0"/>
            </a:b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</a:p>
          <a:p>
            <a:r>
              <a:rPr lang="en-GB" dirty="0"/>
              <a:t>The main picture appears first.</a:t>
            </a:r>
            <a:br>
              <a:rPr lang="en-GB" dirty="0"/>
            </a:br>
            <a:r>
              <a:rPr lang="en-GB" dirty="0"/>
              <a:t>The sentence appears with an empty blank.</a:t>
            </a:r>
            <a:br>
              <a:rPr lang="en-GB" dirty="0"/>
            </a:br>
            <a:r>
              <a:rPr lang="en-GB" dirty="0"/>
              <a:t>The three option cards fade in one by one.</a:t>
            </a:r>
            <a:br>
              <a:rPr lang="en-GB" dirty="0"/>
            </a:b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</a:p>
          <a:p>
            <a:r>
              <a:rPr lang="en-GB" dirty="0"/>
              <a:t>Read </a:t>
            </a: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…”</a:t>
            </a:r>
            <a:r>
              <a:rPr lang="en-GB" dirty="0"/>
              <a:t>, pause at the blank, then say </a:t>
            </a:r>
            <a:r>
              <a:rPr lang="en-GB" b="1" dirty="0"/>
              <a:t>“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</a:p>
          <a:p>
            <a:r>
              <a:rPr lang="en-GB" dirty="0"/>
              <a:t>When an option is tapped, play only its name: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सेब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बैग</a:t>
            </a:r>
            <a:r>
              <a:rPr lang="en-GB" b="1" dirty="0"/>
              <a:t>।”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“</a:t>
            </a:r>
            <a:r>
              <a:rPr lang="en-GB" b="1" dirty="0" err="1"/>
              <a:t>रेल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 tap plays the word’s name.</a:t>
            </a:r>
            <a:br>
              <a:rPr lang="en-GB" dirty="0"/>
            </a:br>
            <a:r>
              <a:rPr lang="en-GB" dirty="0"/>
              <a:t>A drag into the blank submits the answer.</a:t>
            </a:r>
            <a:br>
              <a:rPr lang="en-GB" dirty="0"/>
            </a:b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</a:t>
            </a:r>
          </a:p>
          <a:p>
            <a:r>
              <a:rPr lang="en-GB" b="1" dirty="0" err="1"/>
              <a:t>सेब</a:t>
            </a:r>
            <a:endParaRPr lang="en-GB" dirty="0"/>
          </a:p>
          <a:p>
            <a:r>
              <a:rPr lang="en-GB" dirty="0"/>
              <a:t>Snap the </a:t>
            </a:r>
            <a:r>
              <a:rPr lang="en-GB" b="1" dirty="0" err="1"/>
              <a:t>सेब</a:t>
            </a:r>
            <a:r>
              <a:rPr lang="en-GB" dirty="0"/>
              <a:t> card into the blank.</a:t>
            </a:r>
            <a:br>
              <a:rPr lang="en-GB" dirty="0"/>
            </a:br>
            <a:r>
              <a:rPr lang="en-GB" dirty="0"/>
              <a:t>Display the completed sentence: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dirty="0"/>
              <a:t>Give the correct answer a soft glow.</a:t>
            </a:r>
            <a:br>
              <a:rPr lang="en-GB" dirty="0"/>
            </a:br>
            <a:r>
              <a:rPr lang="en-GB" dirty="0"/>
              <a:t>Show a small sparkle/confetti effect.</a:t>
            </a:r>
            <a:br>
              <a:rPr lang="en-GB" dirty="0"/>
            </a:b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</a:p>
          <a:p>
            <a:r>
              <a:rPr lang="en-GB" dirty="0"/>
              <a:t>If the child drops </a:t>
            </a:r>
            <a:r>
              <a:rPr lang="en-GB" b="1" dirty="0" err="1"/>
              <a:t>बैग</a:t>
            </a:r>
            <a:r>
              <a:rPr lang="en-GB" dirty="0"/>
              <a:t> or </a:t>
            </a:r>
            <a:r>
              <a:rPr lang="en-GB" b="1" dirty="0" err="1"/>
              <a:t>रेल</a:t>
            </a:r>
            <a:r>
              <a:rPr lang="en-GB" dirty="0"/>
              <a:t> into the blank, softly shake the wrong card.</a:t>
            </a:r>
            <a:br>
              <a:rPr lang="en-GB" dirty="0"/>
            </a:br>
            <a:r>
              <a:rPr lang="en-GB" dirty="0"/>
              <a:t>Return it to its original position.</a:t>
            </a:r>
            <a:br>
              <a:rPr lang="en-GB" dirty="0"/>
            </a:br>
            <a:r>
              <a:rPr lang="en-GB" dirty="0"/>
              <a:t>Do not highlight the apple, any option or a </a:t>
            </a:r>
            <a:r>
              <a:rPr lang="en-GB" dirty="0" err="1"/>
              <a:t>matra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Do not show a hand nudge.</a:t>
            </a:r>
            <a:br>
              <a:rPr lang="en-GB" dirty="0"/>
            </a:br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</a:p>
          <a:p>
            <a:r>
              <a:rPr lang="en-GB" dirty="0"/>
              <a:t>Softly shake the wrong card and return it.</a:t>
            </a:r>
            <a:br>
              <a:rPr lang="en-GB" dirty="0"/>
            </a:br>
            <a:r>
              <a:rPr lang="en-GB" dirty="0"/>
              <a:t>Read the full sentence with each option, one at a time, from left to right.</a:t>
            </a:r>
            <a:br>
              <a:rPr lang="en-GB" dirty="0"/>
            </a:br>
            <a:r>
              <a:rPr lang="en-GB" dirty="0"/>
              <a:t>Briefly preview each word in the blank while its sentence is spoken.</a:t>
            </a:r>
            <a:br>
              <a:rPr lang="en-GB" dirty="0"/>
            </a:br>
            <a:r>
              <a:rPr lang="en-GB" dirty="0"/>
              <a:t>Use the same neutral preview style for all three words. Do not show success feedback.</a:t>
            </a:r>
            <a:br>
              <a:rPr lang="en-GB" dirty="0"/>
            </a:br>
            <a:r>
              <a:rPr lang="en-GB" dirty="0"/>
              <a:t>Highlight the apple held near the child’s mouth in the main scene to draw attention to what the child is eating.</a:t>
            </a:r>
            <a:br>
              <a:rPr lang="en-GB" dirty="0"/>
            </a:br>
            <a:r>
              <a:rPr lang="en-GB" dirty="0"/>
              <a:t>After all three readings, restore the empty blank.</a:t>
            </a:r>
            <a:br>
              <a:rPr lang="en-GB" dirty="0"/>
            </a:br>
            <a:r>
              <a:rPr lang="en-GB" dirty="0"/>
              <a:t>Do not glow the correct option or show a hand nudge.</a:t>
            </a:r>
            <a:br>
              <a:rPr lang="en-GB" dirty="0"/>
            </a:br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</a:p>
          <a:p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बैग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मुझे</a:t>
            </a:r>
            <a:r>
              <a:rPr lang="en-GB" b="1" dirty="0"/>
              <a:t> </a:t>
            </a:r>
            <a:r>
              <a:rPr lang="en-GB" b="1" dirty="0" err="1"/>
              <a:t>रेल</a:t>
            </a:r>
            <a:r>
              <a:rPr lang="en-GB" b="1" dirty="0"/>
              <a:t> </a:t>
            </a:r>
            <a:r>
              <a:rPr lang="en-GB" b="1" dirty="0" err="1"/>
              <a:t>खाना</a:t>
            </a:r>
            <a:r>
              <a:rPr lang="en-GB" b="1" dirty="0"/>
              <a:t> </a:t>
            </a:r>
            <a:r>
              <a:rPr lang="en-GB" b="1" dirty="0" err="1"/>
              <a:t>अच्छा</a:t>
            </a:r>
            <a:r>
              <a:rPr lang="en-GB" b="1" dirty="0"/>
              <a:t> </a:t>
            </a:r>
            <a:r>
              <a:rPr lang="en-GB" b="1" dirty="0" err="1"/>
              <a:t>लगता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</a:p>
          <a:p>
            <a:r>
              <a:rPr lang="en-GB" dirty="0"/>
              <a:t>Softly shake the wrong card and return it.</a:t>
            </a:r>
            <a:br>
              <a:rPr lang="en-GB" dirty="0"/>
            </a:br>
            <a:r>
              <a:rPr lang="en-GB" dirty="0"/>
              <a:t>Give the </a:t>
            </a:r>
            <a:r>
              <a:rPr lang="en-GB" b="1" dirty="0" err="1"/>
              <a:t>सेब</a:t>
            </a:r>
            <a:r>
              <a:rPr lang="en-GB" dirty="0"/>
              <a:t> option and the sentence blank a soft glow.</a:t>
            </a:r>
            <a:br>
              <a:rPr lang="en-GB" dirty="0"/>
            </a:br>
            <a:r>
              <a:rPr lang="en-GB" dirty="0"/>
              <a:t>Lock </a:t>
            </a:r>
            <a:r>
              <a:rPr lang="en-GB" b="1" dirty="0" err="1"/>
              <a:t>बैग</a:t>
            </a:r>
            <a:r>
              <a:rPr lang="en-GB" dirty="0"/>
              <a:t> and </a:t>
            </a:r>
            <a:r>
              <a:rPr lang="en-GB" b="1" dirty="0" err="1"/>
              <a:t>रेल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After the VO finishes, allow only </a:t>
            </a:r>
            <a:r>
              <a:rPr lang="en-GB" b="1" dirty="0" err="1"/>
              <a:t>सेब</a:t>
            </a:r>
            <a:r>
              <a:rPr lang="en-GB" dirty="0"/>
              <a:t> to be dragged into the blank.</a:t>
            </a:r>
            <a:br>
              <a:rPr lang="en-GB" dirty="0"/>
            </a:br>
            <a:r>
              <a:rPr lang="en-GB" dirty="0"/>
              <a:t>Wait for the child to complete the action. Do not fill the blank automatically.</a:t>
            </a:r>
          </a:p>
          <a:p>
            <a:r>
              <a:rPr lang="en-GB" b="1" dirty="0"/>
              <a:t>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बच्चा</a:t>
            </a:r>
            <a:r>
              <a:rPr lang="en-GB" b="1" dirty="0"/>
              <a:t>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खा</a:t>
            </a:r>
            <a:r>
              <a:rPr lang="en-GB" b="1" dirty="0"/>
              <a:t> </a:t>
            </a:r>
            <a:r>
              <a:rPr lang="en-GB" b="1" dirty="0" err="1"/>
              <a:t>रहा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सेब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</a:p>
          <a:p>
            <a:r>
              <a:rPr lang="en-GB" dirty="0"/>
              <a:t>Confirm with Ankita whether Hint 3 should include a hand drag nudge.</a:t>
            </a:r>
            <a:br>
              <a:rPr lang="en-GB" dirty="0"/>
            </a:br>
            <a:r>
              <a:rPr lang="en-GB" dirty="0"/>
              <a:t>Pending confirmation, use glow and lock without a hand, following the earlier practice QA feedback.</a:t>
            </a:r>
            <a:br>
              <a:rPr lang="en-GB" dirty="0"/>
            </a:br>
            <a:r>
              <a:rPr lang="en-GB" dirty="0"/>
              <a:t>If approved, show the hand moving from </a:t>
            </a:r>
            <a:r>
              <a:rPr lang="en-GB" b="1" dirty="0" err="1"/>
              <a:t>सेब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</a:p>
          <a:p>
            <a:r>
              <a:rPr lang="en-GB" dirty="0"/>
              <a:t>Snap </a:t>
            </a:r>
            <a:r>
              <a:rPr lang="en-GB" b="1" dirty="0" err="1"/>
              <a:t>सेब</a:t>
            </a:r>
            <a:r>
              <a:rPr lang="en-GB" dirty="0"/>
              <a:t> into the blank.</a:t>
            </a:r>
            <a:br>
              <a:rPr lang="en-GB" dirty="0"/>
            </a:br>
            <a:r>
              <a:rPr lang="en-GB" dirty="0"/>
              <a:t>Show the completed sentence.</a:t>
            </a:r>
            <a:br>
              <a:rPr lang="en-GB" dirty="0"/>
            </a:br>
            <a:r>
              <a:rPr lang="en-GB" dirty="0"/>
              <a:t>Remove any hand nudge.</a:t>
            </a:r>
            <a:br>
              <a:rPr lang="en-GB" dirty="0"/>
            </a:br>
            <a:r>
              <a:rPr lang="en-GB" dirty="0"/>
              <a:t>Show a small sparkle and play a success chime.</a:t>
            </a:r>
            <a:br>
              <a:rPr lang="en-GB" dirty="0"/>
            </a:br>
            <a:r>
              <a:rPr lang="en-GB" dirty="0"/>
              <a:t>Lock the answer.</a:t>
            </a:r>
            <a:br>
              <a:rPr lang="en-GB" dirty="0"/>
            </a:br>
            <a:r>
              <a:rPr lang="en-GB" dirty="0"/>
              <a:t>No additional VO is needed because Hint 3 has already explained it.</a:t>
            </a:r>
            <a:br>
              <a:rPr lang="en-GB" dirty="0"/>
            </a:br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</a:p>
          <a:p>
            <a:r>
              <a:rPr lang="en-GB" dirty="0"/>
              <a:t>Soft pop when the picture, sentence or options appear.</a:t>
            </a:r>
            <a:br>
              <a:rPr lang="en-GB" dirty="0"/>
            </a:br>
            <a:r>
              <a:rPr lang="en-GB" dirty="0"/>
              <a:t>Light tap/pick-up sound.</a:t>
            </a:r>
            <a:br>
              <a:rPr lang="en-GB" dirty="0"/>
            </a:br>
            <a:r>
              <a:rPr lang="en-GB" dirty="0"/>
              <a:t>Soft error sound on a wrong drop.</a:t>
            </a:r>
            <a:br>
              <a:rPr lang="en-GB" dirty="0"/>
            </a:br>
            <a:r>
              <a:rPr lang="en-GB" dirty="0"/>
              <a:t>Light success chime on the correct answer.</a:t>
            </a:r>
            <a:br>
              <a:rPr lang="en-GB" dirty="0"/>
            </a:br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</a:p>
          <a:p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  <a:br>
              <a:rPr lang="en-GB" dirty="0"/>
            </a:br>
            <a:r>
              <a:rPr lang="en-GB" dirty="0"/>
              <a:t>Activate it only after </a:t>
            </a:r>
            <a:r>
              <a:rPr lang="en-GB" b="1" dirty="0" err="1"/>
              <a:t>सेब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</a:p>
          <a:p>
            <a:r>
              <a:rPr lang="en-GB" dirty="0"/>
              <a:t>Disable all answer taps and drags while any VO is playing.</a:t>
            </a:r>
            <a:br>
              <a:rPr lang="en-GB" dirty="0"/>
            </a:br>
            <a:r>
              <a:rPr lang="en-GB" dirty="0"/>
              <a:t>Use one wrong-attempt counter for this sentence blank.</a:t>
            </a:r>
            <a:br>
              <a:rPr lang="en-GB" dirty="0"/>
            </a:br>
            <a:r>
              <a:rPr lang="en-GB" dirty="0"/>
              <a:t>Switching between </a:t>
            </a:r>
            <a:r>
              <a:rPr lang="en-GB" b="1" dirty="0" err="1"/>
              <a:t>बैग</a:t>
            </a:r>
            <a:r>
              <a:rPr lang="en-GB" dirty="0"/>
              <a:t> and </a:t>
            </a:r>
            <a:r>
              <a:rPr lang="en-GB" b="1" dirty="0" err="1"/>
              <a:t>रेल</a:t>
            </a:r>
            <a:r>
              <a:rPr lang="en-GB" dirty="0"/>
              <a:t> must not reset the counter.</a:t>
            </a:r>
            <a:br>
              <a:rPr lang="en-GB" dirty="0"/>
            </a:br>
            <a:r>
              <a:rPr lang="en-GB" dirty="0"/>
              <a:t>A name-only tap or release outside the blank does not count as a wrong answer.</a:t>
            </a:r>
            <a:br>
              <a:rPr lang="en-GB" dirty="0"/>
            </a:br>
            <a:r>
              <a:rPr lang="en-GB" dirty="0"/>
              <a:t>Trigger Hint 1 after the first wrong drop, Hint 2 after the second, and Hint 3 after the third.</a:t>
            </a:r>
            <a:br>
              <a:rPr lang="en-GB" dirty="0"/>
            </a:br>
            <a:r>
              <a:rPr lang="en-GB" dirty="0"/>
              <a:t>If the child answers correctly earlier, accept the answer and stop the hint sequence.</a:t>
            </a:r>
            <a:br>
              <a:rPr lang="en-GB" dirty="0"/>
            </a:br>
            <a:r>
              <a:rPr lang="en-GB" dirty="0"/>
              <a:t>Hint 2 previews are temporary comparisons, not accepted answers.</a:t>
            </a:r>
            <a:br>
              <a:rPr lang="en-GB" dirty="0"/>
            </a:br>
            <a:r>
              <a:rPr lang="en-GB" dirty="0"/>
              <a:t>Highlight the relevant scene detail in Hint 2 because the task tests sentence meaning. The child should use the picture and sentence meaning to choose the correct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8911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Recommendation</a:t>
            </a:r>
          </a:p>
          <a:p>
            <a:r>
              <a:rPr lang="en-GB" b="1" dirty="0"/>
              <a:t>Activity Concept:</a:t>
            </a:r>
          </a:p>
          <a:p>
            <a:r>
              <a:rPr lang="en-GB" dirty="0"/>
              <a:t>This is a picture-based sentence completion activity.</a:t>
            </a:r>
            <a:br>
              <a:rPr lang="en-GB" dirty="0"/>
            </a:br>
            <a:r>
              <a:rPr lang="en-GB" dirty="0"/>
              <a:t>The child looks at the scene, listens to the sentence and drags the correct word card into the blank.</a:t>
            </a:r>
            <a:br>
              <a:rPr lang="en-GB" dirty="0"/>
            </a:br>
            <a:r>
              <a:rPr lang="en-GB" dirty="0"/>
              <a:t>The focus is on using </a:t>
            </a:r>
            <a:r>
              <a:rPr lang="en-GB" b="1" dirty="0"/>
              <a:t>ऐ </a:t>
            </a:r>
            <a:r>
              <a:rPr lang="en-GB" b="1" dirty="0" err="1"/>
              <a:t>की</a:t>
            </a:r>
            <a:r>
              <a:rPr lang="en-GB" b="1" dirty="0"/>
              <a:t> </a:t>
            </a:r>
            <a:r>
              <a:rPr lang="en-GB" b="1" dirty="0" err="1"/>
              <a:t>मात्रा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dirty="0"/>
              <a:t> in a meaningful sentence.</a:t>
            </a:r>
          </a:p>
          <a:p>
            <a:r>
              <a:rPr lang="en-GB" b="1" dirty="0"/>
              <a:t>Heading / Question Text:</a:t>
            </a:r>
          </a:p>
          <a:p>
            <a:r>
              <a:rPr lang="en-GB" b="1" dirty="0"/>
              <a:t>“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On Screen:</a:t>
            </a:r>
          </a:p>
          <a:p>
            <a:r>
              <a:rPr lang="en-GB" dirty="0"/>
              <a:t>Keep the farming scene on the left and the sentence on the right.</a:t>
            </a:r>
          </a:p>
          <a:p>
            <a:r>
              <a:rPr lang="en-GB" dirty="0"/>
              <a:t>Sentence: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किसान</a:t>
            </a:r>
            <a:r>
              <a:rPr lang="en-GB" b="1" dirty="0"/>
              <a:t> ___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Show three picture-and-word options below the sentence: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बैल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शेर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 err="1"/>
              <a:t>भेड़</a:t>
            </a:r>
            <a:endParaRPr lang="en-GB" dirty="0"/>
          </a:p>
          <a:p>
            <a:r>
              <a:rPr lang="en-GB" dirty="0"/>
              <a:t>Ensure the </a:t>
            </a:r>
            <a:r>
              <a:rPr lang="en-GB" b="1" dirty="0" err="1"/>
              <a:t>बैल</a:t>
            </a:r>
            <a:r>
              <a:rPr lang="en-GB" dirty="0"/>
              <a:t> and </a:t>
            </a:r>
            <a:r>
              <a:rPr lang="en-GB" dirty="0" err="1"/>
              <a:t>किसान</a:t>
            </a:r>
            <a:r>
              <a:rPr lang="en-GB" dirty="0"/>
              <a:t> </a:t>
            </a:r>
            <a:r>
              <a:rPr lang="en-GB" dirty="0" err="1"/>
              <a:t>का</a:t>
            </a:r>
            <a:r>
              <a:rPr lang="en-GB" dirty="0"/>
              <a:t> </a:t>
            </a:r>
            <a:r>
              <a:rPr lang="en-GB" dirty="0" err="1"/>
              <a:t>खेत</a:t>
            </a:r>
            <a:r>
              <a:rPr lang="en-GB" dirty="0"/>
              <a:t> </a:t>
            </a:r>
            <a:r>
              <a:rPr lang="en-GB" dirty="0" err="1"/>
              <a:t>जोतने</a:t>
            </a:r>
            <a:r>
              <a:rPr lang="en-GB" dirty="0"/>
              <a:t> </a:t>
            </a:r>
            <a:r>
              <a:rPr lang="en-GB" dirty="0" err="1"/>
              <a:t>वाला</a:t>
            </a:r>
            <a:r>
              <a:rPr lang="en-GB" dirty="0"/>
              <a:t> </a:t>
            </a:r>
            <a:r>
              <a:rPr lang="en-GB" dirty="0" err="1"/>
              <a:t>दृश्य</a:t>
            </a:r>
            <a:r>
              <a:rPr lang="en-GB" dirty="0"/>
              <a:t> clearly visible </a:t>
            </a:r>
            <a:r>
              <a:rPr lang="en-GB" dirty="0" err="1"/>
              <a:t>हो</a:t>
            </a:r>
            <a:r>
              <a:rPr lang="en-GB" dirty="0"/>
              <a:t>, so the child can connect the action with the correct word.</a:t>
            </a:r>
          </a:p>
          <a:p>
            <a:r>
              <a:rPr lang="en-GB" dirty="0"/>
              <a:t>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clear bullock image for </a:t>
            </a:r>
            <a:r>
              <a:rPr lang="en-GB" b="1" dirty="0" err="1"/>
              <a:t>बैल</a:t>
            </a:r>
            <a:r>
              <a:rPr lang="en-GB" dirty="0"/>
              <a:t>, showing visible horns and body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recognisable lion image for </a:t>
            </a:r>
            <a:r>
              <a:rPr lang="en-GB" b="1" dirty="0" err="1"/>
              <a:t>शेर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recognisable sheep image for </a:t>
            </a:r>
            <a:r>
              <a:rPr lang="en-GB" b="1" dirty="0" err="1"/>
              <a:t>भेड़</a:t>
            </a:r>
            <a:r>
              <a:rPr lang="en-GB" dirty="0"/>
              <a:t>.</a:t>
            </a:r>
          </a:p>
          <a:p>
            <a:r>
              <a:rPr lang="en-GB" dirty="0"/>
              <a:t>Do not highlight the correct option or the bullock in the scene initially.</a:t>
            </a:r>
            <a:br>
              <a:rPr lang="en-GB" dirty="0"/>
            </a:br>
            <a:r>
              <a:rPr lang="en-GB" dirty="0"/>
              <a:t>Keep the existing mascot and overall UI/UX style unchanged.</a:t>
            </a:r>
          </a:p>
          <a:p>
            <a:r>
              <a:rPr lang="en-GB" b="1" dirty="0"/>
              <a:t>Entry Animation:</a:t>
            </a:r>
          </a:p>
          <a:p>
            <a:r>
              <a:rPr lang="en-GB" dirty="0"/>
              <a:t>The main picture appears first.</a:t>
            </a:r>
            <a:br>
              <a:rPr lang="en-GB" dirty="0"/>
            </a:br>
            <a:r>
              <a:rPr lang="en-GB" dirty="0"/>
              <a:t>The sentence appears with an empty blank.</a:t>
            </a:r>
            <a:br>
              <a:rPr lang="en-GB" dirty="0"/>
            </a:br>
            <a:r>
              <a:rPr lang="en-GB" dirty="0"/>
              <a:t>The three option cards fade in one by one.</a:t>
            </a:r>
            <a:br>
              <a:rPr lang="en-GB" dirty="0"/>
            </a:br>
            <a:r>
              <a:rPr lang="en-GB" dirty="0"/>
              <a:t>Play the instruction and sentence VO before enabling interaction.</a:t>
            </a:r>
          </a:p>
          <a:p>
            <a:r>
              <a:rPr lang="en-GB" b="1" dirty="0"/>
              <a:t>Instruction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Sentence VO:</a:t>
            </a:r>
          </a:p>
          <a:p>
            <a:r>
              <a:rPr lang="en-GB" dirty="0"/>
              <a:t>Read:</a:t>
            </a:r>
          </a:p>
          <a:p>
            <a:r>
              <a:rPr lang="en-GB" b="1" dirty="0"/>
              <a:t>“</a:t>
            </a:r>
            <a:r>
              <a:rPr lang="en-GB" b="1" dirty="0" err="1"/>
              <a:t>किसान</a:t>
            </a:r>
            <a:r>
              <a:rPr lang="en-GB" b="1" dirty="0"/>
              <a:t>…”</a:t>
            </a:r>
            <a:endParaRPr lang="en-GB" dirty="0"/>
          </a:p>
          <a:p>
            <a:r>
              <a:rPr lang="en-GB" dirty="0"/>
              <a:t>Pause at the blank, then say:</a:t>
            </a:r>
          </a:p>
          <a:p>
            <a:r>
              <a:rPr lang="en-GB" b="1" dirty="0"/>
              <a:t>“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Do not say the missing word.</a:t>
            </a:r>
          </a:p>
          <a:p>
            <a:r>
              <a:rPr lang="en-GB" b="1" dirty="0"/>
              <a:t>Option VO:</a:t>
            </a:r>
          </a:p>
          <a:p>
            <a:r>
              <a:rPr lang="en-GB" dirty="0"/>
              <a:t>When an option is tapped, play only its name:</a:t>
            </a:r>
          </a:p>
          <a:p>
            <a:r>
              <a:rPr lang="en-GB" b="1" dirty="0"/>
              <a:t>“</a:t>
            </a:r>
            <a:r>
              <a:rPr lang="en-GB" b="1" dirty="0" err="1"/>
              <a:t>बैल</a:t>
            </a:r>
            <a:r>
              <a:rPr lang="en-GB" b="1" dirty="0"/>
              <a:t>।” / “</a:t>
            </a:r>
            <a:r>
              <a:rPr lang="en-GB" b="1" dirty="0" err="1"/>
              <a:t>शेर</a:t>
            </a:r>
            <a:r>
              <a:rPr lang="en-GB" b="1" dirty="0"/>
              <a:t>।” / “</a:t>
            </a:r>
            <a:r>
              <a:rPr lang="en-GB" b="1" dirty="0" err="1"/>
              <a:t>भेड़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A tap plays the word’s name.</a:t>
            </a:r>
            <a:br>
              <a:rPr lang="en-GB" dirty="0"/>
            </a:br>
            <a:r>
              <a:rPr lang="en-GB" dirty="0"/>
              <a:t>A drag into the blank submits the answer.</a:t>
            </a:r>
            <a:br>
              <a:rPr lang="en-GB" dirty="0"/>
            </a:br>
            <a:r>
              <a:rPr lang="en-GB" dirty="0"/>
              <a:t>Disable dragging while any VO plays.</a:t>
            </a:r>
          </a:p>
          <a:p>
            <a:r>
              <a:rPr lang="en-GB" b="1" dirty="0"/>
              <a:t>Correct Answer: </a:t>
            </a:r>
            <a:r>
              <a:rPr lang="en-GB" b="1" dirty="0" err="1"/>
              <a:t>बैल</a:t>
            </a:r>
            <a:endParaRPr lang="en-GB" b="1" dirty="0"/>
          </a:p>
          <a:p>
            <a:r>
              <a:rPr lang="en-GB" dirty="0"/>
              <a:t>Snap the </a:t>
            </a:r>
            <a:r>
              <a:rPr lang="en-GB" b="1" dirty="0" err="1"/>
              <a:t>बैल</a:t>
            </a:r>
            <a:r>
              <a:rPr lang="en-GB" dirty="0"/>
              <a:t> card into the blank.</a:t>
            </a:r>
          </a:p>
          <a:p>
            <a:r>
              <a:rPr lang="en-GB" dirty="0"/>
              <a:t>Display the completed sentence:</a:t>
            </a:r>
          </a:p>
          <a:p>
            <a:r>
              <a:rPr lang="en-GB" b="1" dirty="0"/>
              <a:t>“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Give the correct answer a soft glow.</a:t>
            </a:r>
            <a:br>
              <a:rPr lang="en-GB" dirty="0"/>
            </a:br>
            <a:r>
              <a:rPr lang="en-GB" dirty="0"/>
              <a:t>Show a small sparkle/confetti effect.</a:t>
            </a:r>
            <a:br>
              <a:rPr lang="en-GB" dirty="0"/>
            </a:br>
            <a:r>
              <a:rPr lang="en-GB" dirty="0"/>
              <a:t>Lock the completed sentence.</a:t>
            </a:r>
          </a:p>
          <a:p>
            <a:r>
              <a:rPr lang="en-GB" b="1" dirty="0"/>
              <a:t>Correct Response VO:</a:t>
            </a:r>
          </a:p>
          <a:p>
            <a:r>
              <a:rPr lang="en-GB" b="1" dirty="0"/>
              <a:t>“</a:t>
            </a:r>
            <a:r>
              <a:rPr lang="en-GB" b="1" dirty="0" err="1"/>
              <a:t>शाबाश</a:t>
            </a:r>
            <a:r>
              <a:rPr lang="en-GB" b="1" dirty="0"/>
              <a:t>! 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1: Clarify — After the 1st Wrong Drop</a:t>
            </a:r>
          </a:p>
          <a:p>
            <a:r>
              <a:rPr lang="en-GB" dirty="0"/>
              <a:t>If the child drops </a:t>
            </a:r>
            <a:r>
              <a:rPr lang="en-GB" b="1" dirty="0" err="1"/>
              <a:t>शेर</a:t>
            </a:r>
            <a:r>
              <a:rPr lang="en-GB" dirty="0"/>
              <a:t> or </a:t>
            </a:r>
            <a:r>
              <a:rPr lang="en-GB" b="1" dirty="0" err="1"/>
              <a:t>भेड़</a:t>
            </a:r>
            <a:r>
              <a:rPr lang="en-GB" dirty="0"/>
              <a:t> into the blank: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Softly shake the wrong card.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Return it to its original position.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highlight the bullock, any option or any </a:t>
            </a:r>
            <a:r>
              <a:rPr lang="en-GB" dirty="0" err="1"/>
              <a:t>मात्रा</a:t>
            </a:r>
            <a:r>
              <a:rPr lang="en-GB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Do not show a hand nudge.</a:t>
            </a:r>
          </a:p>
          <a:p>
            <a:r>
              <a:rPr lang="en-GB" dirty="0"/>
              <a:t>After the VO finishes, allow another attempt.</a:t>
            </a:r>
          </a:p>
          <a:p>
            <a:r>
              <a:rPr lang="en-GB" b="1" dirty="0"/>
              <a:t>VO:</a:t>
            </a:r>
          </a:p>
          <a:p>
            <a:r>
              <a:rPr lang="en-GB" b="1" dirty="0"/>
              <a:t>“</a:t>
            </a:r>
            <a:r>
              <a:rPr lang="en-GB" b="1" dirty="0" err="1"/>
              <a:t>फिर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देखिए</a:t>
            </a:r>
            <a:r>
              <a:rPr lang="en-GB" b="1" dirty="0"/>
              <a:t>। 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2: Strong Hint — After the 2nd Wrong Drop</a:t>
            </a:r>
          </a:p>
          <a:p>
            <a:r>
              <a:rPr lang="en-GB" dirty="0"/>
              <a:t>Softly shake the wrong card and return it.</a:t>
            </a:r>
          </a:p>
          <a:p>
            <a:r>
              <a:rPr lang="en-GB" dirty="0"/>
              <a:t>Read the full sentence with each option, one at a time, from left to right.</a:t>
            </a:r>
          </a:p>
          <a:p>
            <a:r>
              <a:rPr lang="en-GB" dirty="0"/>
              <a:t>Briefly preview each word in the blank while its sentence is spoken.</a:t>
            </a:r>
          </a:p>
          <a:p>
            <a:r>
              <a:rPr lang="en-GB" dirty="0"/>
              <a:t>Use the same neutral preview style for all three words.</a:t>
            </a:r>
            <a:br>
              <a:rPr lang="en-GB" dirty="0"/>
            </a:br>
            <a:r>
              <a:rPr lang="en-GB" dirty="0"/>
              <a:t>Do not show success feedback.</a:t>
            </a:r>
          </a:p>
          <a:p>
            <a:r>
              <a:rPr lang="en-GB" dirty="0"/>
              <a:t>Highlight the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और</a:t>
            </a:r>
            <a:r>
              <a:rPr lang="en-GB" b="1" dirty="0"/>
              <a:t> 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द्वारा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जोतने</a:t>
            </a:r>
            <a:r>
              <a:rPr lang="en-GB" b="1" dirty="0"/>
              <a:t> </a:t>
            </a:r>
            <a:r>
              <a:rPr lang="en-GB" b="1" dirty="0" err="1"/>
              <a:t>वाले</a:t>
            </a:r>
            <a:r>
              <a:rPr lang="en-GB" b="1" dirty="0"/>
              <a:t> </a:t>
            </a:r>
            <a:r>
              <a:rPr lang="en-GB" b="1" dirty="0" err="1"/>
              <a:t>हिस्से</a:t>
            </a:r>
            <a:r>
              <a:rPr lang="en-GB" dirty="0"/>
              <a:t> in the main scene to help the child understand the sentence meaning.</a:t>
            </a:r>
          </a:p>
          <a:p>
            <a:r>
              <a:rPr lang="en-GB" dirty="0"/>
              <a:t>After all three readings, restore the empty blank.</a:t>
            </a:r>
          </a:p>
          <a:p>
            <a:r>
              <a:rPr lang="en-GB" dirty="0"/>
              <a:t>Do not glow the correct option or show a hand nudge.</a:t>
            </a:r>
          </a:p>
          <a:p>
            <a:r>
              <a:rPr lang="en-GB" dirty="0"/>
              <a:t>After the VO finishes, keep all three options available.</a:t>
            </a:r>
          </a:p>
          <a:p>
            <a:r>
              <a:rPr lang="en-GB" b="1" dirty="0"/>
              <a:t>VO — Separate Clips with a Short Pause Between Them:</a:t>
            </a:r>
          </a:p>
          <a:p>
            <a:r>
              <a:rPr lang="en-GB" b="1" dirty="0"/>
              <a:t>“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शेर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br>
              <a:rPr lang="en-GB" dirty="0"/>
            </a:br>
            <a:r>
              <a:rPr lang="en-GB" b="1" dirty="0"/>
              <a:t>“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भेड़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जोतता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dirty="0"/>
              <a:t>Then: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देखकर</a:t>
            </a:r>
            <a:r>
              <a:rPr lang="en-GB" b="1" dirty="0"/>
              <a:t> </a:t>
            </a:r>
            <a:r>
              <a:rPr lang="en-GB" b="1" dirty="0" err="1"/>
              <a:t>सही</a:t>
            </a:r>
            <a:r>
              <a:rPr lang="en-GB" b="1" dirty="0"/>
              <a:t> </a:t>
            </a:r>
            <a:r>
              <a:rPr lang="en-GB" b="1" dirty="0" err="1"/>
              <a:t>शब्द</a:t>
            </a:r>
            <a:r>
              <a:rPr lang="en-GB" b="1" dirty="0"/>
              <a:t> </a:t>
            </a:r>
            <a:r>
              <a:rPr lang="en-GB" b="1" dirty="0" err="1"/>
              <a:t>चुनकर</a:t>
            </a:r>
            <a:r>
              <a:rPr lang="en-GB" b="1" dirty="0"/>
              <a:t> </a:t>
            </a:r>
            <a:r>
              <a:rPr lang="en-GB" b="1" dirty="0" err="1"/>
              <a:t>वाक्य</a:t>
            </a:r>
            <a:r>
              <a:rPr lang="en-GB" b="1" dirty="0"/>
              <a:t> </a:t>
            </a:r>
            <a:r>
              <a:rPr lang="en-GB" b="1" dirty="0" err="1"/>
              <a:t>पूरा</a:t>
            </a:r>
            <a:r>
              <a:rPr lang="en-GB" b="1" dirty="0"/>
              <a:t> </a:t>
            </a:r>
            <a:r>
              <a:rPr lang="en-GB" b="1" dirty="0" err="1"/>
              <a:t>कीजिए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Hint 3: Show the Answer — After the 3rd Wrong Drop</a:t>
            </a:r>
          </a:p>
          <a:p>
            <a:r>
              <a:rPr lang="en-GB" dirty="0"/>
              <a:t>Softly shake the wrong card and return it.</a:t>
            </a:r>
          </a:p>
          <a:p>
            <a:r>
              <a:rPr lang="en-GB" dirty="0"/>
              <a:t>Give the </a:t>
            </a:r>
            <a:r>
              <a:rPr lang="en-GB" b="1" dirty="0" err="1"/>
              <a:t>बैल</a:t>
            </a:r>
            <a:r>
              <a:rPr lang="en-GB" dirty="0"/>
              <a:t> option and sentence blank a soft glow.</a:t>
            </a:r>
          </a:p>
          <a:p>
            <a:r>
              <a:rPr lang="en-GB" dirty="0"/>
              <a:t>Lock </a:t>
            </a:r>
            <a:r>
              <a:rPr lang="en-GB" b="1" dirty="0" err="1"/>
              <a:t>शेर</a:t>
            </a:r>
            <a:r>
              <a:rPr lang="en-GB" dirty="0"/>
              <a:t> and </a:t>
            </a:r>
            <a:r>
              <a:rPr lang="en-GB" b="1" dirty="0" err="1"/>
              <a:t>भेड़</a:t>
            </a:r>
            <a:r>
              <a:rPr lang="en-GB" dirty="0"/>
              <a:t>.</a:t>
            </a:r>
          </a:p>
          <a:p>
            <a:r>
              <a:rPr lang="en-GB" dirty="0"/>
              <a:t>After the VO finishes, allow only </a:t>
            </a:r>
            <a:r>
              <a:rPr lang="en-GB" b="1" dirty="0" err="1"/>
              <a:t>बैल</a:t>
            </a:r>
            <a:r>
              <a:rPr lang="en-GB" dirty="0"/>
              <a:t> to be dragged into the blank.</a:t>
            </a:r>
          </a:p>
          <a:p>
            <a:r>
              <a:rPr lang="en-GB" dirty="0"/>
              <a:t>Wait for the child to complete the action.</a:t>
            </a:r>
            <a:br>
              <a:rPr lang="en-GB" dirty="0"/>
            </a:br>
            <a:r>
              <a:rPr lang="en-GB" dirty="0"/>
              <a:t>Do not fill the blank automatically.</a:t>
            </a:r>
          </a:p>
          <a:p>
            <a:r>
              <a:rPr lang="en-GB" b="1" dirty="0"/>
              <a:t>VO:</a:t>
            </a:r>
          </a:p>
          <a:p>
            <a:r>
              <a:rPr lang="en-GB" b="1" dirty="0"/>
              <a:t>“</a:t>
            </a:r>
            <a:r>
              <a:rPr lang="en-GB" b="1" dirty="0" err="1"/>
              <a:t>चित्र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किसान</a:t>
            </a:r>
            <a:r>
              <a:rPr lang="en-GB" b="1" dirty="0"/>
              <a:t>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से</a:t>
            </a:r>
            <a:r>
              <a:rPr lang="en-GB" b="1" dirty="0"/>
              <a:t> </a:t>
            </a:r>
            <a:r>
              <a:rPr lang="en-GB" b="1" dirty="0" err="1"/>
              <a:t>खेत</a:t>
            </a:r>
            <a:r>
              <a:rPr lang="en-GB" b="1" dirty="0"/>
              <a:t> </a:t>
            </a:r>
            <a:r>
              <a:rPr lang="en-GB" b="1" dirty="0" err="1"/>
              <a:t>जोत</a:t>
            </a:r>
            <a:r>
              <a:rPr lang="en-GB" b="1" dirty="0"/>
              <a:t> </a:t>
            </a:r>
            <a:r>
              <a:rPr lang="en-GB" b="1" dirty="0" err="1"/>
              <a:t>रहा</a:t>
            </a:r>
            <a:r>
              <a:rPr lang="en-GB" b="1" dirty="0"/>
              <a:t> </a:t>
            </a:r>
            <a:r>
              <a:rPr lang="en-GB" b="1" dirty="0" err="1"/>
              <a:t>है</a:t>
            </a:r>
            <a:r>
              <a:rPr lang="en-GB" b="1" dirty="0"/>
              <a:t>। </a:t>
            </a:r>
            <a:r>
              <a:rPr lang="en-GB" b="1" dirty="0" err="1"/>
              <a:t>बैल</a:t>
            </a:r>
            <a:r>
              <a:rPr lang="en-GB" b="1" dirty="0"/>
              <a:t> </a:t>
            </a:r>
            <a:r>
              <a:rPr lang="en-GB" b="1" dirty="0" err="1"/>
              <a:t>को</a:t>
            </a:r>
            <a:r>
              <a:rPr lang="en-GB" b="1" dirty="0"/>
              <a:t> </a:t>
            </a:r>
            <a:r>
              <a:rPr lang="en-GB" b="1" dirty="0" err="1"/>
              <a:t>खाली</a:t>
            </a:r>
            <a:r>
              <a:rPr lang="en-GB" b="1" dirty="0"/>
              <a:t> </a:t>
            </a:r>
            <a:r>
              <a:rPr lang="en-GB" b="1" dirty="0" err="1"/>
              <a:t>जगह</a:t>
            </a:r>
            <a:r>
              <a:rPr lang="en-GB" b="1" dirty="0"/>
              <a:t> </a:t>
            </a:r>
            <a:r>
              <a:rPr lang="en-GB" b="1" dirty="0" err="1"/>
              <a:t>में</a:t>
            </a:r>
            <a:r>
              <a:rPr lang="en-GB" b="1" dirty="0"/>
              <a:t> </a:t>
            </a:r>
            <a:r>
              <a:rPr lang="en-GB" b="1" dirty="0" err="1"/>
              <a:t>डालिए</a:t>
            </a:r>
            <a:r>
              <a:rPr lang="en-GB" b="1" dirty="0"/>
              <a:t>।”</a:t>
            </a:r>
            <a:endParaRPr lang="en-GB" dirty="0"/>
          </a:p>
          <a:p>
            <a:r>
              <a:rPr lang="en-GB" b="1" dirty="0"/>
              <a:t>Practice-Round Hand Nudge:</a:t>
            </a:r>
          </a:p>
          <a:p>
            <a:r>
              <a:rPr lang="en-GB" dirty="0"/>
              <a:t>Confirm with Ankita whether Hint 3 should include a hand drag nudge.</a:t>
            </a:r>
          </a:p>
          <a:p>
            <a:r>
              <a:rPr lang="en-GB" dirty="0"/>
              <a:t>Pending confirmation, use glow and lock without a hand, following the earlier practice QA feedback.</a:t>
            </a:r>
          </a:p>
          <a:p>
            <a:r>
              <a:rPr lang="en-GB" dirty="0"/>
              <a:t>If approved, show the hand moving from </a:t>
            </a:r>
            <a:r>
              <a:rPr lang="en-GB" b="1" dirty="0" err="1"/>
              <a:t>बैल</a:t>
            </a:r>
            <a:r>
              <a:rPr lang="en-GB" dirty="0"/>
              <a:t> to the sentence blank.</a:t>
            </a:r>
          </a:p>
          <a:p>
            <a:r>
              <a:rPr lang="en-GB" b="1" dirty="0"/>
              <a:t>Correct Response After Hint 3:</a:t>
            </a:r>
          </a:p>
          <a:p>
            <a:r>
              <a:rPr lang="en-GB" dirty="0"/>
              <a:t>Snap </a:t>
            </a:r>
            <a:r>
              <a:rPr lang="en-GB" b="1" dirty="0" err="1"/>
              <a:t>बैल</a:t>
            </a:r>
            <a:r>
              <a:rPr lang="en-GB" dirty="0"/>
              <a:t> into the blank.</a:t>
            </a:r>
          </a:p>
          <a:p>
            <a:r>
              <a:rPr lang="en-GB" dirty="0"/>
              <a:t>Show the completed sentence.</a:t>
            </a:r>
          </a:p>
          <a:p>
            <a:r>
              <a:rPr lang="en-GB" dirty="0"/>
              <a:t>Remove any hand nudge.</a:t>
            </a:r>
          </a:p>
          <a:p>
            <a:r>
              <a:rPr lang="en-GB" dirty="0"/>
              <a:t>Show a small sparkle and play a success chime.</a:t>
            </a:r>
          </a:p>
          <a:p>
            <a:r>
              <a:rPr lang="en-GB" dirty="0"/>
              <a:t>Lock the answer.</a:t>
            </a:r>
          </a:p>
          <a:p>
            <a:r>
              <a:rPr lang="en-GB" dirty="0"/>
              <a:t>No additional VO is needed because Hint 3 has already explained it.</a:t>
            </a:r>
          </a:p>
          <a:p>
            <a:r>
              <a:rPr lang="en-GB" dirty="0"/>
              <a:t>Enable </a:t>
            </a:r>
            <a:r>
              <a:rPr lang="en-GB" b="1" dirty="0" err="1"/>
              <a:t>आगे</a:t>
            </a:r>
            <a:r>
              <a:rPr lang="en-GB" dirty="0"/>
              <a:t> after the feedback finishes.</a:t>
            </a:r>
          </a:p>
          <a:p>
            <a:r>
              <a:rPr lang="en-GB" b="1" dirty="0"/>
              <a:t>SFX: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pop when the picture, sentence or options appear.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tap/pick-up sound.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Soft error sound on a wrong drop.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Light success chime on the correct answer.</a:t>
            </a:r>
          </a:p>
          <a:p>
            <a:r>
              <a:rPr lang="en-GB" dirty="0"/>
              <a:t>Keep SFX below the VO volume.</a:t>
            </a:r>
          </a:p>
          <a:p>
            <a:r>
              <a:rPr lang="en-GB" b="1" dirty="0"/>
              <a:t>Next Button:</a:t>
            </a:r>
          </a:p>
          <a:p>
            <a:r>
              <a:rPr lang="en-GB" dirty="0"/>
              <a:t>Keep </a:t>
            </a:r>
            <a:r>
              <a:rPr lang="en-GB" b="1" dirty="0" err="1"/>
              <a:t>आगे</a:t>
            </a:r>
            <a:r>
              <a:rPr lang="en-GB" dirty="0"/>
              <a:t> disabled initially and throughout the hints.</a:t>
            </a:r>
          </a:p>
          <a:p>
            <a:r>
              <a:rPr lang="en-GB" dirty="0"/>
              <a:t>Activate it only after </a:t>
            </a:r>
            <a:r>
              <a:rPr lang="en-GB" b="1" dirty="0" err="1"/>
              <a:t>बैल</a:t>
            </a:r>
            <a:r>
              <a:rPr lang="en-GB" dirty="0"/>
              <a:t> is correctly placed and feedback finishes.</a:t>
            </a:r>
          </a:p>
          <a:p>
            <a:r>
              <a:rPr lang="en-GB" b="1" dirty="0"/>
              <a:t>Developer Notes: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Disable all answer taps and drags while any VO is playing.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Use one wrong-attempt counter for this sentence blank.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Switching between </a:t>
            </a:r>
            <a:r>
              <a:rPr lang="en-GB" b="1" dirty="0" err="1"/>
              <a:t>शेर</a:t>
            </a:r>
            <a:r>
              <a:rPr lang="en-GB" dirty="0"/>
              <a:t> and </a:t>
            </a:r>
            <a:r>
              <a:rPr lang="en-GB" b="1" dirty="0" err="1"/>
              <a:t>भेड़</a:t>
            </a:r>
            <a:r>
              <a:rPr lang="en-GB" dirty="0"/>
              <a:t> must not reset the counter.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name-only tap or release outside the blank does not count as a wrong answer.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Trigger Hint 1 after the first wrong drop, Hint 2 after the second, and Hint 3 after the third.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If the child answers correctly earlier, accept the answer and stop the hint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Hint 2 previews are temporary comparisons, not accepted answers.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this activity, Hint 2 highlights the relevant scene detail because the task tests sentence meaning and picture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1D9CCE-4418-44B9-B7EA-1229C31EFC7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09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B3D8C"/>
                </a:solidFill>
              </a:rPr>
              <a:t>HI02H11_L02_S03 · मात्राओं की रेल · ए / ऐ</a:t>
            </a:r>
          </a:p>
          <a:p>
            <a:pPr algn="ctr"/>
            <a:r>
              <a:rPr sz="1800">
                <a:solidFill>
                  <a:srgbClr val="5A6678"/>
                </a:solidFill>
              </a:rPr>
              <a:t>Page-by-page review · 18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 · 01_landing.png</a:t>
            </a:r>
          </a:p>
        </p:txBody>
      </p:sp>
      <p:pic>
        <p:nvPicPr>
          <p:cNvPr id="3" name="Picture 2" descr="01_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454E48-8ECB-368D-B1EF-4C4E4ACC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330040"/>
            <a:ext cx="12046569" cy="61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5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2 · 02_MATRA_INTRO.png</a:t>
            </a:r>
          </a:p>
        </p:txBody>
      </p:sp>
      <p:pic>
        <p:nvPicPr>
          <p:cNvPr id="3" name="Picture 2" descr="02_MATRA_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3 · 03_MATRA_BUILD.png</a:t>
            </a:r>
          </a:p>
        </p:txBody>
      </p:sp>
      <p:pic>
        <p:nvPicPr>
          <p:cNvPr id="3" name="Picture 2" descr="03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4 · 04_MEET_PAIR.png</a:t>
            </a:r>
          </a:p>
        </p:txBody>
      </p:sp>
      <p:pic>
        <p:nvPicPr>
          <p:cNvPr id="3" name="Picture 2" descr="04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5 · 05_MATRA_BUILD.png</a:t>
            </a:r>
          </a:p>
        </p:txBody>
      </p:sp>
      <p:pic>
        <p:nvPicPr>
          <p:cNvPr id="3" name="Picture 2" descr="05_MATRA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6 · 06_MEET_PAIR.png</a:t>
            </a:r>
          </a:p>
        </p:txBody>
      </p:sp>
      <p:pic>
        <p:nvPicPr>
          <p:cNvPr id="3" name="Picture 2" descr="06_MEET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225E3-DB72-FEB7-C057-159C48A7C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39" y="403780"/>
            <a:ext cx="11772321" cy="605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2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7 · 07_TRAIN_TAP.png</a:t>
            </a:r>
          </a:p>
        </p:txBody>
      </p:sp>
      <p:pic>
        <p:nvPicPr>
          <p:cNvPr id="3" name="Picture 2" descr="07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9 · 09_TRAIN_TAP.png</a:t>
            </a:r>
          </a:p>
        </p:txBody>
      </p:sp>
      <p:pic>
        <p:nvPicPr>
          <p:cNvPr id="3" name="Picture 2" descr="09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8 · 08_TRAIN_TAP.png</a:t>
            </a:r>
          </a:p>
        </p:txBody>
      </p:sp>
      <p:pic>
        <p:nvPicPr>
          <p:cNvPr id="3" name="Picture 2" descr="08_TRAIN_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10 · 10_TRAIN_SORT.png</a:t>
            </a:r>
          </a:p>
        </p:txBody>
      </p:sp>
      <p:pic>
        <p:nvPicPr>
          <p:cNvPr id="3" name="Picture 2" descr="10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11 · 11_TRAIN_SORT.png</a:t>
            </a:r>
          </a:p>
        </p:txBody>
      </p:sp>
      <p:pic>
        <p:nvPicPr>
          <p:cNvPr id="3" name="Picture 2" descr="11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12 · 12_WORD_BUILD.png</a:t>
            </a:r>
          </a:p>
        </p:txBody>
      </p:sp>
      <p:pic>
        <p:nvPicPr>
          <p:cNvPr id="3" name="Picture 2" descr="12_WORD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13 · 13_TRAIN_SORT.png</a:t>
            </a:r>
          </a:p>
        </p:txBody>
      </p:sp>
      <p:pic>
        <p:nvPicPr>
          <p:cNvPr id="3" name="Picture 2" descr="13_TRAIN_S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14 · 14_SENTENCE_COMPLETE.png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952A10-4ABE-A0BB-E745-04CED2E6C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43630"/>
            <a:ext cx="7810314" cy="43956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16 · 16_SENTENCE_COMPLETE.png</a:t>
            </a:r>
          </a:p>
        </p:txBody>
      </p:sp>
      <p:sp>
        <p:nvSpPr>
          <p:cNvPr id="4" name="AutoShape 2" descr="Generated image 1">
            <a:extLst>
              <a:ext uri="{FF2B5EF4-FFF2-40B4-BE49-F238E27FC236}">
                <a16:creationId xmlns:a16="http://schemas.microsoft.com/office/drawing/2014/main" id="{9D9AA2C7-CE8D-B8B9-907B-66ED7D560D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6244DAD0-F80A-3AFB-8E42-507C55E6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19" y="568960"/>
            <a:ext cx="8322260" cy="4683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17 · 17_SENTENCE_COMPLETE.png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7A703CB4-DD14-84F8-980D-42DD7539F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9172027" cy="51302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20598C-36FE-8BB5-1A58-54A2CBF5E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96" y="295114"/>
            <a:ext cx="11837008" cy="626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57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A9B4C4-C84F-FD2C-DAD5-49D1AD3C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0" y="0"/>
            <a:ext cx="11207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55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B3D8C"/>
                </a:solidFill>
              </a:rPr>
              <a:t>Page 18 · 18_CELEBRATION.png</a:t>
            </a:r>
          </a:p>
        </p:txBody>
      </p:sp>
      <p:pic>
        <p:nvPicPr>
          <p:cNvPr id="3" name="Picture 2" descr="18_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7680960" cy="42985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0" y="731520"/>
            <a:ext cx="359633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8C"/>
                </a:solidFill>
              </a:rPr>
              <a:t>Recommendations</a:t>
            </a:r>
          </a:p>
          <a:p>
            <a:r>
              <a:rPr sz="1300">
                <a:solidFill>
                  <a:srgbClr val="1B2A44"/>
                </a:solidFill>
              </a:rPr>
              <a:t>• SCREEN 17 · CELEBRATION — recaps the skill: «शाबाश! आज हमने सीखा, ए और ऐ की मात्रा पहचानना, और मात्रा वाले शब्द पढ़ना।» No score, no timer, no stars shown to the child.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2545</TotalTime>
  <Words>13251</Words>
  <Application>Microsoft Office PowerPoint</Application>
  <PresentationFormat>Widescreen</PresentationFormat>
  <Paragraphs>1288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Aamir .</cp:lastModifiedBy>
  <cp:revision>5</cp:revision>
  <dcterms:created xsi:type="dcterms:W3CDTF">2013-01-27T09:14:16Z</dcterms:created>
  <dcterms:modified xsi:type="dcterms:W3CDTF">2026-09-30T07:01:42Z</dcterms:modified>
  <cp:category/>
</cp:coreProperties>
</file>