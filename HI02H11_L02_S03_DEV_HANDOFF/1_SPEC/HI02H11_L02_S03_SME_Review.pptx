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77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0" r:id="rId19"/>
    <p:sldId id="272" r:id="rId20"/>
    <p:sldId id="278" r:id="rId21"/>
    <p:sldId id="275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82" autoAdjust="0"/>
  </p:normalViewPr>
  <p:slideViewPr>
    <p:cSldViewPr snapToGrid="0" snapToObjects="1">
      <p:cViewPr varScale="1">
        <p:scale>
          <a:sx n="72" d="100"/>
          <a:sy n="72" d="100"/>
        </p:scale>
        <p:origin x="4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B42EF-2B19-45A4-8CB5-39223A99333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D9CCE-4418-44B9-B7EA-1229C31EF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95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Recommendations:</a:t>
            </a:r>
            <a:b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मात्राओं</a:t>
            </a:r>
            <a:b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की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रेल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Screen Changes: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•Remove all extra text that is not required.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•Keep the screen clean and minimal.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•Show only two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boxes/cards: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1st box: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i-IN" sz="1800" dirty="0"/>
              <a:t>ए’(◌े)</a:t>
            </a:r>
            <a:br>
              <a:rPr lang="hi-IN" sz="1800" dirty="0"/>
            </a:b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2nd box: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200" dirty="0"/>
              <a:t>‘</a:t>
            </a:r>
            <a:r>
              <a:rPr lang="hi-IN" sz="1200" dirty="0"/>
              <a:t>ऐ’(◌ै)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•Keep the existing mascot and overall UI/UX style unchanged.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•Follow the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same train-theme visual treatment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used in the previous PPT. The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be shown inside two train bogies/cards so that the lesson visually continues as a “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मात्राओं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की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रेल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” journey.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Animation: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•If possible, bring the train onto the screen with a smooth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right-to-left animation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•The two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boxes/bogies can appear one by one with a soft pop/fade animation.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•First show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ु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followed by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ू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•Keep animations subtle and child-friendly.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SFX: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•Add a soft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 arrival / whistle SFX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when the train enters.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•Add a light sparkle/pop SFX when each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appears.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हेलो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दोस्त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!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मैं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हूँ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स्विफ्टी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।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आज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हम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मात्राओं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के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बारे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में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जानेंगे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।” </a:t>
            </a:r>
            <a:r>
              <a:rPr lang="hi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ए और ऐ।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After this VO, the two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i-IN" sz="1800" dirty="0"/>
              <a:t>‘ए’(◌े), </a:t>
            </a:r>
            <a:r>
              <a:rPr lang="en-IN" sz="1800" dirty="0"/>
              <a:t>‘</a:t>
            </a:r>
            <a:r>
              <a:rPr lang="hi-IN" sz="1800" dirty="0"/>
              <a:t>ऐ’(◌ै)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can appear one by one on screen.</a:t>
            </a:r>
            <a:endParaRPr lang="en-GB" b="0" dirty="0">
              <a:effectLst/>
            </a:endParaRPr>
          </a:p>
          <a:p>
            <a:br>
              <a:rPr lang="en-GB" b="0" dirty="0">
                <a:effectLst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547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dirty="0"/>
              <a:t>“</a:t>
            </a:r>
            <a:r>
              <a:rPr lang="en-GB" dirty="0" err="1"/>
              <a:t>आज</a:t>
            </a:r>
            <a:r>
              <a:rPr lang="en-GB" dirty="0"/>
              <a:t> </a:t>
            </a:r>
            <a:r>
              <a:rPr lang="en-GB" dirty="0" err="1"/>
              <a:t>हम</a:t>
            </a:r>
            <a:r>
              <a:rPr lang="en-GB" dirty="0"/>
              <a:t> ए </a:t>
            </a:r>
            <a:r>
              <a:rPr lang="en-GB" dirty="0" err="1"/>
              <a:t>और</a:t>
            </a:r>
            <a:r>
              <a:rPr lang="en-GB" dirty="0"/>
              <a:t> ऐ </a:t>
            </a:r>
            <a:r>
              <a:rPr lang="en-GB" dirty="0" err="1"/>
              <a:t>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वाले</a:t>
            </a:r>
            <a:r>
              <a:rPr lang="en-GB" dirty="0"/>
              <a:t> </a:t>
            </a:r>
            <a:r>
              <a:rPr lang="en-GB" dirty="0" err="1"/>
              <a:t>शब्द</a:t>
            </a:r>
            <a:r>
              <a:rPr lang="en-GB" dirty="0"/>
              <a:t> </a:t>
            </a:r>
            <a:r>
              <a:rPr lang="en-GB" dirty="0" err="1"/>
              <a:t>पढ़ेंगे</a:t>
            </a:r>
            <a:r>
              <a:rPr lang="en-GB" dirty="0"/>
              <a:t>।”</a:t>
            </a:r>
          </a:p>
          <a:p>
            <a:r>
              <a:rPr lang="en-GB" dirty="0" err="1"/>
              <a:t>इसके</a:t>
            </a:r>
            <a:r>
              <a:rPr lang="en-GB" dirty="0"/>
              <a:t> </a:t>
            </a:r>
            <a:r>
              <a:rPr lang="en-GB" dirty="0" err="1"/>
              <a:t>बाद</a:t>
            </a:r>
            <a:r>
              <a:rPr lang="en-GB" dirty="0"/>
              <a:t> pair-wise VO </a:t>
            </a:r>
            <a:r>
              <a:rPr lang="en-GB" dirty="0" err="1"/>
              <a:t>इस</a:t>
            </a:r>
            <a:r>
              <a:rPr lang="en-GB" dirty="0"/>
              <a:t> </a:t>
            </a:r>
            <a:r>
              <a:rPr lang="en-GB" dirty="0" err="1"/>
              <a:t>तरह</a:t>
            </a:r>
            <a:r>
              <a:rPr lang="en-GB" dirty="0"/>
              <a:t> </a:t>
            </a:r>
            <a:r>
              <a:rPr lang="en-GB" dirty="0" err="1"/>
              <a:t>चल</a:t>
            </a:r>
            <a:r>
              <a:rPr lang="en-GB" dirty="0"/>
              <a:t> </a:t>
            </a:r>
            <a:r>
              <a:rPr lang="en-GB" dirty="0" err="1"/>
              <a:t>सकती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:</a:t>
            </a:r>
          </a:p>
          <a:p>
            <a:r>
              <a:rPr lang="en-GB" dirty="0"/>
              <a:t>“</a:t>
            </a:r>
            <a:r>
              <a:rPr lang="en-GB" dirty="0" err="1"/>
              <a:t>यह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 ए। </a:t>
            </a:r>
            <a:r>
              <a:rPr lang="en-GB" dirty="0" err="1"/>
              <a:t>इसकी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देखिए</a:t>
            </a:r>
            <a:r>
              <a:rPr lang="en-GB" dirty="0"/>
              <a:t>।”</a:t>
            </a:r>
            <a:br>
              <a:rPr lang="en-GB" dirty="0"/>
            </a:br>
            <a:r>
              <a:rPr lang="en-GB" dirty="0"/>
              <a:t>“</a:t>
            </a:r>
            <a:r>
              <a:rPr lang="en-GB" dirty="0" err="1"/>
              <a:t>यह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 ऐ। </a:t>
            </a:r>
            <a:r>
              <a:rPr lang="en-GB" dirty="0" err="1"/>
              <a:t>इसकी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देखिए</a:t>
            </a:r>
            <a:r>
              <a:rPr lang="en-GB" dirty="0"/>
              <a:t>।”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ए </a:t>
            </a:r>
            <a:r>
              <a:rPr lang="en-GB" b="1" dirty="0" err="1"/>
              <a:t>और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पढ़ेंगे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additional text so the screen stays clean and focused.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</a:t>
            </a:r>
            <a:r>
              <a:rPr lang="en-GB" b="1" dirty="0"/>
              <a:t>letter and its corresponding </a:t>
            </a:r>
            <a:r>
              <a:rPr lang="en-GB" b="1" dirty="0" err="1"/>
              <a:t>matra</a:t>
            </a:r>
            <a:r>
              <a:rPr lang="en-GB" b="1" dirty="0"/>
              <a:t> symbol as a pair</a:t>
            </a:r>
            <a:r>
              <a:rPr lang="en-GB" dirty="0"/>
              <a:t>,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one pair active at a time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each active pair when its VO plays.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Follow this sequence: </a:t>
            </a:r>
            <a:r>
              <a:rPr lang="en-GB" b="1" dirty="0"/>
              <a:t>ए → ◌े</a:t>
            </a:r>
            <a:r>
              <a:rPr lang="en-GB" dirty="0"/>
              <a:t>, then </a:t>
            </a:r>
            <a:r>
              <a:rPr lang="en-GB" b="1" dirty="0"/>
              <a:t>ऐ → ◌ै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possible, show each pair inside a train-style card or bogie to maintain the train theme.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</a:t>
            </a:r>
            <a:r>
              <a:rPr lang="en-GB" b="1" dirty="0"/>
              <a:t>ए</a:t>
            </a:r>
            <a:r>
              <a:rPr lang="en-GB" dirty="0"/>
              <a:t> appears, then </a:t>
            </a:r>
            <a:r>
              <a:rPr lang="en-GB" b="1" dirty="0"/>
              <a:t>◌े</a:t>
            </a:r>
            <a:r>
              <a:rPr lang="en-GB" dirty="0"/>
              <a:t> appears beside it with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its VO finishes, dim the first pair slightly.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ऐ</a:t>
            </a:r>
            <a:r>
              <a:rPr lang="en-GB" dirty="0"/>
              <a:t> appears, followed by </a:t>
            </a:r>
            <a:r>
              <a:rPr lang="en-GB" b="1" dirty="0"/>
              <a:t>◌ै</a:t>
            </a:r>
            <a:r>
              <a:rPr lang="en-GB" dirty="0"/>
              <a:t> beside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 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simple pop/fade animations,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child-friendly, without extra decorative elements.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pop/chime when each </a:t>
            </a:r>
            <a:r>
              <a:rPr lang="en-GB" dirty="0" err="1"/>
              <a:t>matra</a:t>
            </a:r>
            <a:r>
              <a:rPr lang="en-GB" dirty="0"/>
              <a:t> symbol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VO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pairs have been shown and spoken.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slide introduces the two </a:t>
            </a:r>
            <a:r>
              <a:rPr lang="en-GB" dirty="0" err="1"/>
              <a:t>matras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should clearly connect </a:t>
            </a:r>
            <a:r>
              <a:rPr lang="en-GB" b="1" dirty="0"/>
              <a:t>ए → ◌े</a:t>
            </a:r>
            <a:r>
              <a:rPr lang="en-GB" dirty="0"/>
              <a:t> and </a:t>
            </a:r>
            <a:r>
              <a:rPr lang="en-GB" b="1" dirty="0"/>
              <a:t>ऐ → ◌ै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them as </a:t>
            </a: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 and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 Do not use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only helps display the </a:t>
            </a:r>
            <a:r>
              <a:rPr lang="en-GB" dirty="0" err="1"/>
              <a:t>matra</a:t>
            </a:r>
            <a:r>
              <a:rPr lang="en-GB" dirty="0"/>
              <a:t>; it is not part of the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only these two pairs to keep the screen focused.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8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</a:t>
            </a:r>
            <a:r>
              <a:rPr lang="en-GB" b="1" dirty="0" err="1"/>
              <a:t>देखें</a:t>
            </a:r>
            <a:r>
              <a:rPr lang="en-GB" b="1" dirty="0"/>
              <a:t> </a:t>
            </a:r>
            <a:r>
              <a:rPr lang="en-GB" b="1" dirty="0" err="1"/>
              <a:t>कि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आवाज़</a:t>
            </a:r>
            <a:r>
              <a:rPr lang="en-GB" b="1" dirty="0"/>
              <a:t> </a:t>
            </a:r>
            <a:r>
              <a:rPr lang="en-GB" b="1" dirty="0" err="1"/>
              <a:t>कैसे</a:t>
            </a:r>
            <a:r>
              <a:rPr lang="en-GB" b="1" dirty="0"/>
              <a:t> </a:t>
            </a:r>
            <a:r>
              <a:rPr lang="en-GB" b="1" dirty="0" err="1"/>
              <a:t>बदलती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सब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“स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अंत</a:t>
            </a:r>
            <a:r>
              <a:rPr lang="en-GB" dirty="0"/>
              <a:t> </a:t>
            </a:r>
            <a:r>
              <a:rPr lang="en-GB" dirty="0" err="1"/>
              <a:t>में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‘ब’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सेब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focused on </a:t>
            </a:r>
            <a:r>
              <a:rPr lang="en-GB" b="1" dirty="0"/>
              <a:t>one word transformation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सब</a:t>
            </a:r>
            <a:r>
              <a:rPr lang="en-GB" dirty="0"/>
              <a:t> clearly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Below or beside </a:t>
            </a:r>
            <a:r>
              <a:rPr lang="en-GB" b="1" dirty="0" err="1"/>
              <a:t>सब</a:t>
            </a:r>
            <a:r>
              <a:rPr lang="en-GB" dirty="0"/>
              <a:t>, show </a:t>
            </a:r>
            <a:r>
              <a:rPr lang="en-GB" b="1" dirty="0"/>
              <a:t>three children standing together</a:t>
            </a:r>
            <a:r>
              <a:rPr lang="en-GB" dirty="0"/>
              <a:t>. Enclose the whole group within one soft outline to communicate </a:t>
            </a:r>
            <a:r>
              <a:rPr lang="en-GB" b="1" dirty="0"/>
              <a:t>“</a:t>
            </a:r>
            <a:r>
              <a:rPr lang="en-GB" b="1" dirty="0" err="1"/>
              <a:t>सब</a:t>
            </a:r>
            <a:r>
              <a:rPr lang="en-GB" b="1" dirty="0"/>
              <a:t>” / “all”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children equally visible. Do not highlight only one child.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the centre, show: </a:t>
            </a:r>
            <a:r>
              <a:rPr lang="en-GB" b="1" dirty="0"/>
              <a:t>स + ◌े = </a:t>
            </a:r>
            <a:r>
              <a:rPr lang="en-GB" b="1" dirty="0" err="1"/>
              <a:t>से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े </a:t>
            </a:r>
            <a:r>
              <a:rPr lang="en-GB" b="1" dirty="0" err="1"/>
              <a:t>मात्रा</a:t>
            </a:r>
            <a:r>
              <a:rPr lang="en-GB" dirty="0"/>
              <a:t> in red when it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that, show the final word: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सेब</a:t>
            </a:r>
            <a:r>
              <a:rPr lang="en-GB" dirty="0"/>
              <a:t>, highlight only </a:t>
            </a:r>
            <a:r>
              <a:rPr lang="en-GB" b="1" dirty="0"/>
              <a:t>े</a:t>
            </a:r>
            <a:r>
              <a:rPr lang="en-GB" dirty="0"/>
              <a:t> in red so the child notices its position above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clear </a:t>
            </a:r>
            <a:r>
              <a:rPr lang="en-GB" b="1" dirty="0"/>
              <a:t>apple image</a:t>
            </a:r>
            <a:r>
              <a:rPr lang="en-GB" dirty="0"/>
              <a:t> below or beside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clean. Avoid unnecessary explanatory text beneath the cards.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सब</a:t>
            </a:r>
            <a:r>
              <a:rPr lang="en-GB" b="1" dirty="0"/>
              <a:t>:</a:t>
            </a:r>
            <a:r>
              <a:rPr lang="en-GB" dirty="0"/>
              <a:t> A simple, child-friendly illustration of three children standing together. Use one soft outline around the entire group to indicate that </a:t>
            </a:r>
            <a:r>
              <a:rPr lang="en-GB" b="1" dirty="0" err="1"/>
              <a:t>सब</a:t>
            </a:r>
            <a:r>
              <a:rPr lang="en-GB" dirty="0"/>
              <a:t> refers to all of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r>
              <a:rPr lang="en-GB" b="1" dirty="0"/>
              <a:t>:</a:t>
            </a:r>
            <a:r>
              <a:rPr lang="en-GB" dirty="0"/>
              <a:t> A single, recognisable red apple.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 illustration style for both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group image associated with </a:t>
            </a:r>
            <a:r>
              <a:rPr lang="en-GB" b="1" dirty="0" err="1"/>
              <a:t>सब</a:t>
            </a:r>
            <a:r>
              <a:rPr lang="en-GB" dirty="0"/>
              <a:t> and the apple associated with </a:t>
            </a:r>
            <a:r>
              <a:rPr lang="en-GB" b="1" dirty="0" err="1"/>
              <a:t>सेब</a:t>
            </a:r>
            <a:r>
              <a:rPr lang="en-GB" dirty="0"/>
              <a:t>. Do not animate the children changing into an apple.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सब</a:t>
            </a:r>
            <a:r>
              <a:rPr lang="en-GB" dirty="0"/>
              <a:t> appears on the left.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group-of-children image appears below or beside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सब</a:t>
            </a:r>
            <a:r>
              <a:rPr lang="en-GB" b="1" dirty="0"/>
              <a:t>। </a:t>
            </a:r>
            <a:r>
              <a:rPr lang="en-GB" b="1" dirty="0" err="1"/>
              <a:t>ये</a:t>
            </a:r>
            <a:r>
              <a:rPr lang="en-GB" b="1" dirty="0"/>
              <a:t> </a:t>
            </a:r>
            <a:r>
              <a:rPr lang="en-GB" b="1" dirty="0" err="1"/>
              <a:t>सब</a:t>
            </a:r>
            <a:r>
              <a:rPr lang="en-GB" b="1" dirty="0"/>
              <a:t> 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Briefly highlight the whole group together.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</a:t>
            </a:r>
            <a:r>
              <a:rPr lang="en-GB" b="1" dirty="0"/>
              <a:t>स</a:t>
            </a:r>
            <a:r>
              <a:rPr lang="en-GB" dirty="0"/>
              <a:t> in </a:t>
            </a:r>
            <a:r>
              <a:rPr lang="en-GB" b="1" dirty="0" err="1"/>
              <a:t>सब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Show </a:t>
            </a:r>
            <a:r>
              <a:rPr lang="en-GB" b="1" dirty="0"/>
              <a:t>स + ◌े = </a:t>
            </a:r>
            <a:r>
              <a:rPr lang="en-GB" b="1" dirty="0" err="1"/>
              <a:t>से</a:t>
            </a:r>
            <a:r>
              <a:rPr lang="en-GB" dirty="0"/>
              <a:t> in the centre.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“स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</a:t>
            </a:r>
            <a:r>
              <a:rPr lang="en-GB" b="1" dirty="0"/>
              <a:t>े</a:t>
            </a:r>
            <a:r>
              <a:rPr lang="en-GB" dirty="0"/>
              <a:t> into its correct position above </a:t>
            </a:r>
            <a:r>
              <a:rPr lang="en-GB" b="1" dirty="0"/>
              <a:t>स</a:t>
            </a:r>
            <a:r>
              <a:rPr lang="en-GB" dirty="0"/>
              <a:t>, forming </a:t>
            </a:r>
            <a:r>
              <a:rPr lang="en-GB" b="1" dirty="0" err="1"/>
              <a:t>से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Then </a:t>
            </a:r>
            <a:r>
              <a:rPr lang="en-GB" b="1" dirty="0"/>
              <a:t>ब</a:t>
            </a:r>
            <a:r>
              <a:rPr lang="en-GB" dirty="0"/>
              <a:t> joins.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‘ब’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सेब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final word </a:t>
            </a:r>
            <a:r>
              <a:rPr lang="en-GB" b="1" dirty="0" err="1"/>
              <a:t>सेब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 inside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apple image appears below or beside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simple step-by-step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all stages together at the beginning.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reveal </a:t>
            </a:r>
            <a:r>
              <a:rPr lang="en-GB" b="1" dirty="0" err="1"/>
              <a:t>सब</a:t>
            </a:r>
            <a:r>
              <a:rPr lang="en-GB" dirty="0"/>
              <a:t> and its group image with a soft fade.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whole group when the VO says </a:t>
            </a:r>
            <a:r>
              <a:rPr lang="en-GB" b="1" dirty="0"/>
              <a:t>“</a:t>
            </a:r>
            <a:r>
              <a:rPr lang="en-GB" b="1" dirty="0" err="1"/>
              <a:t>ये</a:t>
            </a:r>
            <a:r>
              <a:rPr lang="en-GB" b="1" dirty="0"/>
              <a:t> </a:t>
            </a:r>
            <a:r>
              <a:rPr lang="en-GB" b="1" dirty="0" err="1"/>
              <a:t>सब</a:t>
            </a:r>
            <a:r>
              <a:rPr lang="en-GB" b="1" dirty="0"/>
              <a:t> 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shift attention to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े </a:t>
            </a:r>
            <a:r>
              <a:rPr lang="en-GB" b="1" dirty="0" err="1"/>
              <a:t>मात्रा</a:t>
            </a:r>
            <a:r>
              <a:rPr lang="en-GB" dirty="0"/>
              <a:t> should softly slide into its correct position above </a:t>
            </a:r>
            <a:r>
              <a:rPr lang="en-GB" b="1" dirty="0"/>
              <a:t>स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Visually transform </a:t>
            </a:r>
            <a:r>
              <a:rPr lang="en-GB" b="1" dirty="0"/>
              <a:t>स → </a:t>
            </a:r>
            <a:r>
              <a:rPr lang="en-GB" b="1" dirty="0" err="1"/>
              <a:t>से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ब</a:t>
            </a:r>
            <a:r>
              <a:rPr lang="en-GB" dirty="0"/>
              <a:t> slides in to form </a:t>
            </a:r>
            <a:r>
              <a:rPr lang="en-GB" b="1" dirty="0" err="1"/>
              <a:t>से</a:t>
            </a:r>
            <a:r>
              <a:rPr lang="en-GB" b="1" dirty="0"/>
              <a:t> + ब =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Reveal the apple image only after </a:t>
            </a:r>
            <a:r>
              <a:rPr lang="en-GB" b="1" dirty="0" err="1"/>
              <a:t>सेब</a:t>
            </a:r>
            <a:r>
              <a:rPr lang="en-GB" dirty="0"/>
              <a:t>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Sound Differentiation:</a:t>
            </a:r>
            <a:endParaRPr lang="en-GB" dirty="0"/>
          </a:p>
          <a:p>
            <a:r>
              <a:rPr lang="en-GB" dirty="0"/>
              <a:t>Make the pronunciation difference clear:</a:t>
            </a:r>
          </a:p>
          <a:p>
            <a:r>
              <a:rPr lang="en-GB" b="1" dirty="0"/>
              <a:t>स → </a:t>
            </a:r>
            <a:r>
              <a:rPr lang="en-GB" b="1" dirty="0" err="1"/>
              <a:t>से</a:t>
            </a:r>
            <a:r>
              <a:rPr lang="en-GB" b="1" dirty="0"/>
              <a:t> → </a:t>
            </a:r>
            <a:r>
              <a:rPr lang="en-GB" b="1" dirty="0" err="1"/>
              <a:t>सेब</a:t>
            </a:r>
            <a:endParaRPr lang="en-GB" dirty="0"/>
          </a:p>
          <a:p>
            <a:r>
              <a:rPr lang="en-GB" dirty="0"/>
              <a:t>Give a short pause between each sound so the child can hear how adding </a:t>
            </a:r>
            <a:r>
              <a:rPr lang="en-GB" b="1" dirty="0"/>
              <a:t>े</a:t>
            </a:r>
            <a:r>
              <a:rPr lang="en-GB" dirty="0"/>
              <a:t> changes the sound.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each image or the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chime when </a:t>
            </a:r>
            <a:r>
              <a:rPr lang="en-GB" b="1" dirty="0"/>
              <a:t>स</a:t>
            </a:r>
            <a:r>
              <a:rPr lang="en-GB" dirty="0"/>
              <a:t> changes to </a:t>
            </a:r>
            <a:r>
              <a:rPr lang="en-GB" b="1" dirty="0" err="1"/>
              <a:t>से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small success sound when </a:t>
            </a:r>
            <a:r>
              <a:rPr lang="en-GB" b="1" dirty="0" err="1"/>
              <a:t>सेब</a:t>
            </a:r>
            <a:r>
              <a:rPr lang="en-GB" dirty="0"/>
              <a:t> is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pronunciation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complete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सब</a:t>
            </a:r>
            <a:r>
              <a:rPr lang="en-GB" dirty="0"/>
              <a:t> and its meaning have been introduced, </a:t>
            </a:r>
            <a:r>
              <a:rPr lang="en-GB" b="1" dirty="0"/>
              <a:t>स → </a:t>
            </a:r>
            <a:r>
              <a:rPr lang="en-GB" b="1" dirty="0" err="1"/>
              <a:t>से</a:t>
            </a:r>
            <a:r>
              <a:rPr lang="en-GB" b="1" dirty="0"/>
              <a:t> → </a:t>
            </a:r>
            <a:r>
              <a:rPr lang="en-GB" b="1" dirty="0" err="1"/>
              <a:t>सेब</a:t>
            </a:r>
            <a:r>
              <a:rPr lang="en-GB" dirty="0"/>
              <a:t> has been demonstrated, and the apple image has appeared.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Use: </a:t>
            </a:r>
            <a:r>
              <a:rPr lang="en-GB" b="1" dirty="0"/>
              <a:t>“स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it as </a:t>
            </a: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without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 Keep the consonant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in </a:t>
            </a:r>
            <a:r>
              <a:rPr lang="en-GB" b="1" dirty="0"/>
              <a:t>◌े</a:t>
            </a:r>
            <a:r>
              <a:rPr lang="en-GB" dirty="0"/>
              <a:t> is a display aid. It should disappear when the </a:t>
            </a:r>
            <a:r>
              <a:rPr lang="en-GB" dirty="0" err="1"/>
              <a:t>matra</a:t>
            </a:r>
            <a:r>
              <a:rPr lang="en-GB" dirty="0"/>
              <a:t> joins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key visual learning should remain:</a:t>
            </a:r>
          </a:p>
          <a:p>
            <a:r>
              <a:rPr lang="en-GB" b="1" dirty="0" err="1"/>
              <a:t>सब</a:t>
            </a:r>
            <a:r>
              <a:rPr lang="en-GB" b="1" dirty="0"/>
              <a:t> (all children) → स + ◌े = </a:t>
            </a:r>
            <a:r>
              <a:rPr lang="en-GB" b="1" dirty="0" err="1"/>
              <a:t>से</a:t>
            </a:r>
            <a:r>
              <a:rPr lang="en-GB" b="1" dirty="0"/>
              <a:t> → </a:t>
            </a:r>
            <a:r>
              <a:rPr lang="en-GB" b="1" dirty="0" err="1"/>
              <a:t>सेब</a:t>
            </a:r>
            <a:r>
              <a:rPr lang="en-GB" b="1" dirty="0"/>
              <a:t> (apple)</a:t>
            </a:r>
            <a:endParaRPr lang="en-GB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663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आइए, ए की मात्रा वाले कुछ शब्द देखें।”</a:t>
            </a:r>
            <a:endParaRPr lang="hi-IN" dirty="0"/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“मेज़ — बोलकर देखिए। इसमें म पर ए की मात्रा लगी है।”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“पेड़ — बोलकर देखिए। इसमें प पर ए की मात्रा लगी 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heading: </a:t>
            </a:r>
            <a:r>
              <a:rPr lang="en-IN" b="1" dirty="0"/>
              <a:t>“</a:t>
            </a:r>
            <a:r>
              <a:rPr lang="hi-IN" b="1" dirty="0"/>
              <a:t>ए की मात्रा वाले शब्द पढ़िए।”</a:t>
            </a:r>
            <a:endParaRPr lang="hi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only </a:t>
            </a:r>
            <a:r>
              <a:rPr lang="en-IN" b="1" dirty="0"/>
              <a:t>one example visible at a time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First show </a:t>
            </a:r>
            <a:r>
              <a:rPr lang="hi-IN" b="1" dirty="0"/>
              <a:t>मेज़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table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only the </a:t>
            </a:r>
            <a:r>
              <a:rPr lang="hi-IN" b="1" dirty="0"/>
              <a:t>े मात्रा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म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मेज़</a:t>
            </a:r>
            <a:r>
              <a:rPr lang="hi-IN" dirty="0"/>
              <a:t>, </a:t>
            </a:r>
            <a:r>
              <a:rPr lang="en-IN" dirty="0"/>
              <a:t>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the first example finishes, show </a:t>
            </a:r>
            <a:r>
              <a:rPr lang="hi-IN" b="1" dirty="0"/>
              <a:t>पेड़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tree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only the </a:t>
            </a:r>
            <a:r>
              <a:rPr lang="hi-IN" b="1" dirty="0"/>
              <a:t>े मात्रा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प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पेड़</a:t>
            </a:r>
            <a:r>
              <a:rPr lang="hi-IN" dirty="0"/>
              <a:t>, </a:t>
            </a:r>
            <a:r>
              <a:rPr lang="en-IN" dirty="0"/>
              <a:t>using the same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retaining the </a:t>
            </a:r>
            <a:r>
              <a:rPr lang="en-IN" b="1" dirty="0"/>
              <a:t>“</a:t>
            </a:r>
            <a:r>
              <a:rPr lang="hi-IN" b="1" dirty="0"/>
              <a:t>इस शब्द की मात्रा”</a:t>
            </a:r>
            <a:r>
              <a:rPr lang="hi-IN" dirty="0"/>
              <a:t> </a:t>
            </a:r>
            <a:r>
              <a:rPr lang="en-IN" dirty="0"/>
              <a:t>label, show </a:t>
            </a:r>
            <a:r>
              <a:rPr lang="en-IN" b="1" dirty="0"/>
              <a:t>◌</a:t>
            </a:r>
            <a:r>
              <a:rPr lang="hi-IN" b="1" dirty="0"/>
              <a:t>े</a:t>
            </a:r>
            <a:r>
              <a:rPr lang="hi-IN" dirty="0"/>
              <a:t> </a:t>
            </a:r>
            <a:r>
              <a:rPr lang="en-IN" dirty="0"/>
              <a:t>for both examples.</a:t>
            </a:r>
          </a:p>
          <a:p>
            <a:r>
              <a:rPr lang="en-IN" b="1" dirty="0"/>
              <a:t>Image Requirements: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मेज़:</a:t>
            </a:r>
            <a:r>
              <a:rPr lang="hi-IN" dirty="0"/>
              <a:t> </a:t>
            </a:r>
            <a:r>
              <a:rPr lang="en-IN" dirty="0"/>
              <a:t>A simple, recognisable table with a clear tabletop and visible legs. Keep it free of distracting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पेड़:</a:t>
            </a:r>
            <a:r>
              <a:rPr lang="hi-IN" dirty="0"/>
              <a:t> </a:t>
            </a:r>
            <a:r>
              <a:rPr lang="en-IN" dirty="0"/>
              <a:t>A complete tree with a clearly visible trunk and green canopy.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a consistent, child-friendly illustration style for both images.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मेज़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table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मेज़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म पर ए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े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मेज़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Fade out the first example.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पेड़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tree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पेड़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प पर ए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े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पेड़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the word first, followed by its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simple </a:t>
            </a:r>
            <a:r>
              <a:rPr lang="en-IN" b="1" dirty="0"/>
              <a:t>fade/pop-in animations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When the VO explains the </a:t>
            </a:r>
            <a:r>
              <a:rPr lang="en-IN" dirty="0" err="1"/>
              <a:t>matra</a:t>
            </a:r>
            <a:r>
              <a:rPr lang="en-IN" dirty="0"/>
              <a:t>, softly highlight </a:t>
            </a:r>
            <a:r>
              <a:rPr lang="hi-IN" b="1" dirty="0"/>
              <a:t>े</a:t>
            </a:r>
            <a:r>
              <a:rPr lang="hi-IN" dirty="0"/>
              <a:t> </a:t>
            </a:r>
            <a:r>
              <a:rPr lang="en-IN" dirty="0"/>
              <a:t>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consonants, headline and </a:t>
            </a:r>
            <a:r>
              <a:rPr lang="en-IN" dirty="0" err="1"/>
              <a:t>nukta</a:t>
            </a:r>
            <a:r>
              <a:rPr lang="en-IN" dirty="0"/>
              <a:t> dots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Complete one example before introducing the next.</a:t>
            </a:r>
          </a:p>
          <a:p>
            <a:r>
              <a:rPr lang="en-IN" b="1" dirty="0"/>
              <a:t>SFX: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pop when the word or image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chime when the </a:t>
            </a:r>
            <a:r>
              <a:rPr lang="en-IN" dirty="0" err="1"/>
              <a:t>matra</a:t>
            </a:r>
            <a:r>
              <a:rPr lang="en-IN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SFX subtle so the VO and pronunciation remain clear.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</a:t>
            </a:r>
            <a:r>
              <a:rPr lang="hi-IN" b="1" dirty="0"/>
              <a:t>आगे</a:t>
            </a:r>
            <a:r>
              <a:rPr lang="hi-IN" dirty="0"/>
              <a:t> </a:t>
            </a:r>
            <a:r>
              <a:rPr lang="en-IN" dirty="0"/>
              <a:t>button disabled during the explanation.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Activate it only after both examples and their VO sequences finish.</a:t>
            </a:r>
          </a:p>
          <a:p>
            <a:r>
              <a:rPr lang="en-IN" b="1" dirty="0"/>
              <a:t>Note: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 the correct spellings: </a:t>
            </a:r>
            <a:r>
              <a:rPr lang="hi-IN" b="1" dirty="0"/>
              <a:t>मेज़</a:t>
            </a:r>
            <a:r>
              <a:rPr lang="hi-IN" dirty="0"/>
              <a:t> </a:t>
            </a:r>
            <a:r>
              <a:rPr lang="en-IN" dirty="0"/>
              <a:t>and </a:t>
            </a:r>
            <a:r>
              <a:rPr lang="hi-IN" b="1" dirty="0"/>
              <a:t>पेड़</a:t>
            </a:r>
            <a:r>
              <a:rPr lang="hi-IN" dirty="0"/>
              <a:t>, </a:t>
            </a:r>
            <a:r>
              <a:rPr lang="en-IN" dirty="0"/>
              <a:t>including their </a:t>
            </a:r>
            <a:r>
              <a:rPr lang="en-IN" dirty="0" err="1"/>
              <a:t>nukta</a:t>
            </a:r>
            <a:r>
              <a:rPr lang="en-IN" dirty="0"/>
              <a:t> dots.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only </a:t>
            </a:r>
            <a:r>
              <a:rPr lang="hi-IN" b="1" dirty="0"/>
              <a:t>े</a:t>
            </a:r>
            <a:r>
              <a:rPr lang="hi-IN" dirty="0"/>
              <a:t>, </a:t>
            </a:r>
            <a:r>
              <a:rPr lang="en-IN" dirty="0"/>
              <a:t>not the </a:t>
            </a:r>
            <a:r>
              <a:rPr lang="en-IN" dirty="0" err="1"/>
              <a:t>nukta</a:t>
            </a:r>
            <a:r>
              <a:rPr lang="en-IN" dirty="0"/>
              <a:t> under </a:t>
            </a:r>
            <a:r>
              <a:rPr lang="hi-IN" b="1" dirty="0"/>
              <a:t>ज़</a:t>
            </a:r>
            <a:r>
              <a:rPr lang="hi-IN" dirty="0"/>
              <a:t> </a:t>
            </a:r>
            <a:r>
              <a:rPr lang="en-IN" dirty="0"/>
              <a:t>or </a:t>
            </a:r>
            <a:r>
              <a:rPr lang="hi-IN" b="1" dirty="0"/>
              <a:t>ड़</a:t>
            </a:r>
            <a:r>
              <a:rPr lang="hi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learning focus is recognising </a:t>
            </a:r>
            <a:r>
              <a:rPr lang="hi-IN" b="1" dirty="0"/>
              <a:t>ए की मात्रा</a:t>
            </a:r>
            <a:r>
              <a:rPr lang="hi-IN" dirty="0"/>
              <a:t> </a:t>
            </a:r>
            <a:r>
              <a:rPr lang="en-IN" dirty="0"/>
              <a:t>in both words: </a:t>
            </a:r>
            <a:r>
              <a:rPr lang="hi-IN" b="1" dirty="0"/>
              <a:t>मेज़, पेड़</a:t>
            </a:r>
            <a:r>
              <a:rPr lang="hi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279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</a:t>
            </a:r>
            <a:r>
              <a:rPr lang="en-GB" b="1" dirty="0" err="1"/>
              <a:t>देखें</a:t>
            </a:r>
            <a:r>
              <a:rPr lang="en-GB" b="1" dirty="0"/>
              <a:t> </a:t>
            </a:r>
            <a:r>
              <a:rPr lang="en-GB" b="1" dirty="0" err="1"/>
              <a:t>कि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आवाज़</a:t>
            </a:r>
            <a:r>
              <a:rPr lang="en-GB" b="1" dirty="0"/>
              <a:t> </a:t>
            </a:r>
            <a:r>
              <a:rPr lang="en-GB" b="1" dirty="0" err="1"/>
              <a:t>कैसे</a:t>
            </a:r>
            <a:r>
              <a:rPr lang="en-GB" b="1" dirty="0"/>
              <a:t> </a:t>
            </a:r>
            <a:r>
              <a:rPr lang="en-GB" b="1" dirty="0" err="1"/>
              <a:t>बदलती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पर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किताब</a:t>
            </a:r>
            <a:r>
              <a:rPr lang="en-GB" b="1" dirty="0"/>
              <a:t> </a:t>
            </a:r>
            <a:r>
              <a:rPr lang="en-GB" b="1" dirty="0" err="1"/>
              <a:t>रखी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“प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अंत</a:t>
            </a:r>
            <a:r>
              <a:rPr lang="en-GB" dirty="0"/>
              <a:t> </a:t>
            </a:r>
            <a:r>
              <a:rPr lang="en-GB" dirty="0" err="1"/>
              <a:t>में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‘र’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पैर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focused on </a:t>
            </a:r>
            <a:r>
              <a:rPr lang="en-GB" b="1" dirty="0"/>
              <a:t>one word transformation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पर</a:t>
            </a:r>
            <a:r>
              <a:rPr lang="en-GB" dirty="0"/>
              <a:t> clearly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Below or beside </a:t>
            </a:r>
            <a:r>
              <a:rPr lang="en-GB" b="1" dirty="0" err="1"/>
              <a:t>पर</a:t>
            </a:r>
            <a:r>
              <a:rPr lang="en-GB" dirty="0"/>
              <a:t>, show a </a:t>
            </a:r>
            <a:r>
              <a:rPr lang="en-GB" b="1" dirty="0"/>
              <a:t>book resting on a table</a:t>
            </a:r>
            <a:r>
              <a:rPr lang="en-GB" dirty="0"/>
              <a:t> to explain “</a:t>
            </a:r>
            <a:r>
              <a:rPr lang="en-GB" dirty="0" err="1"/>
              <a:t>पर</a:t>
            </a:r>
            <a:r>
              <a:rPr lang="en-GB" dirty="0"/>
              <a:t>” through a familiar situation.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the centre, show: </a:t>
            </a:r>
            <a:r>
              <a:rPr lang="en-GB" b="1" dirty="0"/>
              <a:t>प + ◌ै = </a:t>
            </a:r>
            <a:r>
              <a:rPr lang="en-GB" b="1" dirty="0" err="1"/>
              <a:t>पै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ै </a:t>
            </a:r>
            <a:r>
              <a:rPr lang="en-GB" b="1" dirty="0" err="1"/>
              <a:t>मात्रा</a:t>
            </a:r>
            <a:r>
              <a:rPr lang="en-GB" dirty="0"/>
              <a:t> in red when it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that, show the final word: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पैर</a:t>
            </a:r>
            <a:r>
              <a:rPr lang="en-GB" dirty="0"/>
              <a:t>, highlight both strokes of </a:t>
            </a:r>
            <a:r>
              <a:rPr lang="en-GB" b="1" dirty="0"/>
              <a:t>ै</a:t>
            </a:r>
            <a:r>
              <a:rPr lang="en-GB" dirty="0"/>
              <a:t> in red so the child notices its position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clear </a:t>
            </a:r>
            <a:r>
              <a:rPr lang="en-GB" b="1" dirty="0"/>
              <a:t>foot image</a:t>
            </a:r>
            <a:r>
              <a:rPr lang="en-GB" dirty="0"/>
              <a:t> below or beside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clean. Avoid unnecessary explanatory text beneath the cards.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पर</a:t>
            </a:r>
            <a:r>
              <a:rPr lang="en-GB" b="1" dirty="0"/>
              <a:t>:</a:t>
            </a:r>
            <a:r>
              <a:rPr lang="en-GB" dirty="0"/>
              <a:t> A simple illustration of a book resting directly on a table. Keep the tabletop and book clearly visible, with no other objects competing for attention.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A recognisable bare foot, including the toes and a small portion of the ankle.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each image associated with its word. Do not animate the table or book changing into a foot.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पर</a:t>
            </a:r>
            <a:r>
              <a:rPr lang="en-GB" dirty="0"/>
              <a:t> appears on the left.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book-on-table image appears below or beside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पर</a:t>
            </a:r>
            <a:r>
              <a:rPr lang="en-GB" b="1" dirty="0"/>
              <a:t>।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किताब</a:t>
            </a:r>
            <a:r>
              <a:rPr lang="en-GB" b="1" dirty="0"/>
              <a:t> </a:t>
            </a:r>
            <a:r>
              <a:rPr lang="en-GB" b="1" dirty="0" err="1"/>
              <a:t>रखी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Briefly highlight the book resting on the tabletop to reinforce </a:t>
            </a:r>
            <a:r>
              <a:rPr lang="en-GB" b="1" dirty="0" err="1"/>
              <a:t>पर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</a:t>
            </a:r>
            <a:r>
              <a:rPr lang="en-GB" b="1" dirty="0"/>
              <a:t>प</a:t>
            </a:r>
            <a:r>
              <a:rPr lang="en-GB" dirty="0"/>
              <a:t> in </a:t>
            </a:r>
            <a:r>
              <a:rPr lang="en-GB" b="1" dirty="0" err="1"/>
              <a:t>पर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Show </a:t>
            </a:r>
            <a:r>
              <a:rPr lang="en-GB" b="1" dirty="0"/>
              <a:t>प + ◌ै = </a:t>
            </a:r>
            <a:r>
              <a:rPr lang="en-GB" b="1" dirty="0" err="1"/>
              <a:t>पै</a:t>
            </a:r>
            <a:r>
              <a:rPr lang="en-GB" dirty="0"/>
              <a:t> in the centre.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“प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</a:t>
            </a:r>
            <a:r>
              <a:rPr lang="en-GB" b="1" dirty="0"/>
              <a:t>ै</a:t>
            </a:r>
            <a:r>
              <a:rPr lang="en-GB" dirty="0"/>
              <a:t> into its correct position above </a:t>
            </a:r>
            <a:r>
              <a:rPr lang="en-GB" b="1" dirty="0"/>
              <a:t>प</a:t>
            </a:r>
            <a:r>
              <a:rPr lang="en-GB" dirty="0"/>
              <a:t>, forming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Then </a:t>
            </a:r>
            <a:r>
              <a:rPr lang="en-GB" b="1" dirty="0"/>
              <a:t>र</a:t>
            </a:r>
            <a:r>
              <a:rPr lang="en-GB" dirty="0"/>
              <a:t> joins.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‘र’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पैर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final word </a:t>
            </a:r>
            <a:r>
              <a:rPr lang="en-GB" b="1" dirty="0" err="1"/>
              <a:t>पैर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foot image appears below or beside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simple step-by-step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all stages together at the beginning.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reveal </a:t>
            </a:r>
            <a:r>
              <a:rPr lang="en-GB" b="1" dirty="0" err="1"/>
              <a:t>पर</a:t>
            </a:r>
            <a:r>
              <a:rPr lang="en-GB" dirty="0"/>
              <a:t> and its image with a soft fade.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book’s position when the VO says </a:t>
            </a:r>
            <a:r>
              <a:rPr lang="en-GB" b="1" dirty="0"/>
              <a:t>“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किताब</a:t>
            </a:r>
            <a:r>
              <a:rPr lang="en-GB" b="1" dirty="0"/>
              <a:t> </a:t>
            </a:r>
            <a:r>
              <a:rPr lang="en-GB" b="1" dirty="0" err="1"/>
              <a:t>रखी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shift attention to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ै </a:t>
            </a:r>
            <a:r>
              <a:rPr lang="en-GB" b="1" dirty="0" err="1"/>
              <a:t>मात्रा</a:t>
            </a:r>
            <a:r>
              <a:rPr lang="en-GB" dirty="0"/>
              <a:t> should softly slide into its correct position above </a:t>
            </a:r>
            <a:r>
              <a:rPr lang="en-GB" b="1" dirty="0"/>
              <a:t>प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Visually transform </a:t>
            </a:r>
            <a:r>
              <a:rPr lang="en-GB" b="1" dirty="0"/>
              <a:t>प →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र</a:t>
            </a:r>
            <a:r>
              <a:rPr lang="en-GB" dirty="0"/>
              <a:t> slides in to form </a:t>
            </a:r>
            <a:r>
              <a:rPr lang="en-GB" b="1" dirty="0" err="1"/>
              <a:t>पै</a:t>
            </a:r>
            <a:r>
              <a:rPr lang="en-GB" b="1" dirty="0"/>
              <a:t> + र =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Reveal the foot image only after </a:t>
            </a:r>
            <a:r>
              <a:rPr lang="en-GB" b="1" dirty="0" err="1"/>
              <a:t>पैर</a:t>
            </a:r>
            <a:r>
              <a:rPr lang="en-GB" dirty="0"/>
              <a:t>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Sound Differentiation:</a:t>
            </a:r>
            <a:endParaRPr lang="en-GB" dirty="0"/>
          </a:p>
          <a:p>
            <a:r>
              <a:rPr lang="en-GB" dirty="0"/>
              <a:t>Make the pronunciation difference clear:</a:t>
            </a:r>
          </a:p>
          <a:p>
            <a:r>
              <a:rPr lang="en-GB" b="1" dirty="0"/>
              <a:t>प → </a:t>
            </a:r>
            <a:r>
              <a:rPr lang="en-GB" b="1" dirty="0" err="1"/>
              <a:t>पै</a:t>
            </a:r>
            <a:r>
              <a:rPr lang="en-GB" b="1" dirty="0"/>
              <a:t> → </a:t>
            </a:r>
            <a:r>
              <a:rPr lang="en-GB" b="1" dirty="0" err="1"/>
              <a:t>पैर</a:t>
            </a:r>
            <a:endParaRPr lang="en-GB" dirty="0"/>
          </a:p>
          <a:p>
            <a:r>
              <a:rPr lang="en-GB" dirty="0"/>
              <a:t>Give a short pause between each sound so the child can hear how adding </a:t>
            </a:r>
            <a:r>
              <a:rPr lang="en-GB" b="1" dirty="0"/>
              <a:t>ै</a:t>
            </a:r>
            <a:r>
              <a:rPr lang="en-GB" dirty="0"/>
              <a:t> changes the sound.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each image or the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chime when </a:t>
            </a:r>
            <a:r>
              <a:rPr lang="en-GB" b="1" dirty="0"/>
              <a:t>प</a:t>
            </a:r>
            <a:r>
              <a:rPr lang="en-GB" dirty="0"/>
              <a:t> changes to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small success sound when </a:t>
            </a:r>
            <a:r>
              <a:rPr lang="en-GB" b="1" dirty="0" err="1"/>
              <a:t>पैर</a:t>
            </a:r>
            <a:r>
              <a:rPr lang="en-GB" dirty="0"/>
              <a:t> is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pronunciation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complete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पर</a:t>
            </a:r>
            <a:r>
              <a:rPr lang="en-GB" dirty="0"/>
              <a:t> and its meaning have been introduced, </a:t>
            </a:r>
            <a:r>
              <a:rPr lang="en-GB" b="1" dirty="0"/>
              <a:t>प → </a:t>
            </a:r>
            <a:r>
              <a:rPr lang="en-GB" b="1" dirty="0" err="1"/>
              <a:t>पै</a:t>
            </a:r>
            <a:r>
              <a:rPr lang="en-GB" b="1" dirty="0"/>
              <a:t> → </a:t>
            </a:r>
            <a:r>
              <a:rPr lang="en-GB" b="1" dirty="0" err="1"/>
              <a:t>पैर</a:t>
            </a:r>
            <a:r>
              <a:rPr lang="en-GB" dirty="0"/>
              <a:t> has been demonstrated, and the foot image has appeared.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Use: </a:t>
            </a:r>
            <a:r>
              <a:rPr lang="en-GB" b="1" dirty="0"/>
              <a:t>“प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it as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without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both </a:t>
            </a:r>
            <a:r>
              <a:rPr lang="en-GB" dirty="0" err="1"/>
              <a:t>matra</a:t>
            </a:r>
            <a:r>
              <a:rPr lang="en-GB" dirty="0"/>
              <a:t> strokes in red. Keep the consonant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in </a:t>
            </a:r>
            <a:r>
              <a:rPr lang="en-GB" b="1" dirty="0"/>
              <a:t>◌ै</a:t>
            </a:r>
            <a:r>
              <a:rPr lang="en-GB" dirty="0"/>
              <a:t> is a display aid. It should disappear when the </a:t>
            </a:r>
            <a:r>
              <a:rPr lang="en-GB" dirty="0" err="1"/>
              <a:t>matra</a:t>
            </a:r>
            <a:r>
              <a:rPr lang="en-GB" dirty="0"/>
              <a:t> joins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key visual learning should remain:</a:t>
            </a:r>
          </a:p>
          <a:p>
            <a:r>
              <a:rPr lang="en-GB" b="1" dirty="0" err="1"/>
              <a:t>पर</a:t>
            </a:r>
            <a:r>
              <a:rPr lang="en-GB" b="1" dirty="0"/>
              <a:t> (book on a table) → प + ◌ै = </a:t>
            </a:r>
            <a:r>
              <a:rPr lang="en-GB" b="1" dirty="0" err="1"/>
              <a:t>पै</a:t>
            </a:r>
            <a:r>
              <a:rPr lang="en-GB" b="1" dirty="0"/>
              <a:t> → </a:t>
            </a:r>
            <a:r>
              <a:rPr lang="en-GB" b="1" dirty="0" err="1"/>
              <a:t>पैर</a:t>
            </a:r>
            <a:r>
              <a:rPr lang="en-GB" b="1" dirty="0"/>
              <a:t> (foot)</a:t>
            </a:r>
            <a:endParaRPr lang="en-GB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90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आइए, ऐ की मात्रा वाले कुछ शब्द देखें।”</a:t>
            </a:r>
            <a:endParaRPr lang="hi-IN" dirty="0"/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“बैल — बोलकर देखिए। इसमें ब पर ऐ की मात्रा लगी है।”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“भैंस — बोलकर देखिए। इसमें भ पर ऐ की मात्रा लगी 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heading: </a:t>
            </a:r>
            <a:r>
              <a:rPr lang="en-IN" b="1" dirty="0"/>
              <a:t>“</a:t>
            </a:r>
            <a:r>
              <a:rPr lang="hi-IN" b="1" dirty="0"/>
              <a:t>ऐ की मात्रा वाले शब्द पढ़िए।”</a:t>
            </a:r>
            <a:endParaRPr lang="hi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only </a:t>
            </a:r>
            <a:r>
              <a:rPr lang="en-IN" b="1" dirty="0"/>
              <a:t>one example visible at a time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First show </a:t>
            </a:r>
            <a:r>
              <a:rPr lang="hi-IN" b="1" dirty="0"/>
              <a:t>बैल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bullock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both strokes of the </a:t>
            </a:r>
            <a:r>
              <a:rPr lang="hi-IN" b="1" dirty="0"/>
              <a:t>ै मात्रा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ब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बैल</a:t>
            </a:r>
            <a:r>
              <a:rPr lang="hi-IN" dirty="0"/>
              <a:t>, </a:t>
            </a:r>
            <a:r>
              <a:rPr lang="en-IN" dirty="0"/>
              <a:t>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the first example finishes, show </a:t>
            </a:r>
            <a:r>
              <a:rPr lang="hi-IN" b="1" dirty="0"/>
              <a:t>भैंस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buffalo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both strokes of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भ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भैंस</a:t>
            </a:r>
            <a:r>
              <a:rPr lang="hi-IN" dirty="0"/>
              <a:t>, </a:t>
            </a:r>
            <a:r>
              <a:rPr lang="en-IN" dirty="0"/>
              <a:t>using the same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</a:t>
            </a:r>
            <a:r>
              <a:rPr lang="hi-IN" b="1" dirty="0"/>
              <a:t>ं </a:t>
            </a:r>
            <a:r>
              <a:rPr lang="en-IN" b="1" dirty="0"/>
              <a:t>dot</a:t>
            </a:r>
            <a:r>
              <a:rPr lang="en-IN" dirty="0"/>
              <a:t> in </a:t>
            </a:r>
            <a:r>
              <a:rPr lang="hi-IN" b="1" dirty="0"/>
              <a:t>भैंस</a:t>
            </a:r>
            <a:r>
              <a:rPr lang="hi-IN" dirty="0"/>
              <a:t> </a:t>
            </a:r>
            <a:r>
              <a:rPr lang="en-IN" dirty="0"/>
              <a:t>visible 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retaining the </a:t>
            </a:r>
            <a:r>
              <a:rPr lang="en-IN" b="1" dirty="0"/>
              <a:t>“</a:t>
            </a:r>
            <a:r>
              <a:rPr lang="hi-IN" b="1" dirty="0"/>
              <a:t>इस शब्द की मात्रा”</a:t>
            </a:r>
            <a:r>
              <a:rPr lang="hi-IN" dirty="0"/>
              <a:t> </a:t>
            </a:r>
            <a:r>
              <a:rPr lang="en-IN" dirty="0"/>
              <a:t>label, show </a:t>
            </a:r>
            <a:r>
              <a:rPr lang="en-IN" b="1" dirty="0"/>
              <a:t>◌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for both examples.</a:t>
            </a:r>
          </a:p>
          <a:p>
            <a:r>
              <a:rPr lang="en-IN" b="1" dirty="0"/>
              <a:t>Image Requirements: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बैल:</a:t>
            </a:r>
            <a:r>
              <a:rPr lang="hi-IN" dirty="0"/>
              <a:t> </a:t>
            </a:r>
            <a:r>
              <a:rPr lang="en-IN" dirty="0"/>
              <a:t>A recognisable bullock with a visible hump and horns.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भैंस:</a:t>
            </a:r>
            <a:r>
              <a:rPr lang="hi-IN" dirty="0"/>
              <a:t> </a:t>
            </a:r>
            <a:r>
              <a:rPr lang="en-IN" dirty="0"/>
              <a:t>A recognisable buffalo with a dark body and curved horns.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Make the two animals visually distinct so children can identify them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a consistent, child-friendly illustration style with minimal background detail.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बैल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bullock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बैल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ब पर ऐ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बैल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Fade out the first example.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भैंस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buffalo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भैंस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भ पर ऐ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भैंस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the word first, followed by its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simple </a:t>
            </a:r>
            <a:r>
              <a:rPr lang="en-IN" b="1" dirty="0"/>
              <a:t>fade/pop-in animations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When the VO explains the </a:t>
            </a:r>
            <a:r>
              <a:rPr lang="en-IN" dirty="0" err="1"/>
              <a:t>matra</a:t>
            </a:r>
            <a:r>
              <a:rPr lang="en-IN" dirty="0"/>
              <a:t>, softly highlight both strokes of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consonants, headline and </a:t>
            </a:r>
            <a:r>
              <a:rPr lang="hi-IN" b="1" dirty="0"/>
              <a:t>ं </a:t>
            </a:r>
            <a:r>
              <a:rPr lang="en-IN" b="1" dirty="0"/>
              <a:t>dot</a:t>
            </a:r>
            <a:r>
              <a:rPr lang="en-IN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Complete one example before introducing the next.</a:t>
            </a:r>
          </a:p>
          <a:p>
            <a:r>
              <a:rPr lang="en-IN" b="1" dirty="0"/>
              <a:t>SFX: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pop when the word or image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chime when the </a:t>
            </a:r>
            <a:r>
              <a:rPr lang="en-IN" dirty="0" err="1"/>
              <a:t>matra</a:t>
            </a:r>
            <a:r>
              <a:rPr lang="en-IN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SFX subtle so the VO and pronunciation remain clear.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</a:t>
            </a:r>
            <a:r>
              <a:rPr lang="hi-IN" b="1" dirty="0"/>
              <a:t>आगे</a:t>
            </a:r>
            <a:r>
              <a:rPr lang="hi-IN" dirty="0"/>
              <a:t> </a:t>
            </a:r>
            <a:r>
              <a:rPr lang="en-IN" dirty="0"/>
              <a:t>button disabled during the explanation.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Activate it only after both examples and their VO sequences finish.</a:t>
            </a:r>
          </a:p>
          <a:p>
            <a:r>
              <a:rPr lang="en-IN" b="1" dirty="0"/>
              <a:t>Note: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 the correct spellings: </a:t>
            </a:r>
            <a:r>
              <a:rPr lang="hi-IN" b="1" dirty="0"/>
              <a:t>बैल</a:t>
            </a:r>
            <a:r>
              <a:rPr lang="hi-IN" dirty="0"/>
              <a:t> </a:t>
            </a:r>
            <a:r>
              <a:rPr lang="en-IN" dirty="0"/>
              <a:t>and </a:t>
            </a:r>
            <a:r>
              <a:rPr lang="hi-IN" b="1" dirty="0"/>
              <a:t>भैंस</a:t>
            </a:r>
            <a:r>
              <a:rPr lang="hi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 </a:t>
            </a:r>
            <a:r>
              <a:rPr lang="hi-IN" b="1" dirty="0"/>
              <a:t>भैंस</a:t>
            </a:r>
            <a:r>
              <a:rPr lang="hi-IN" dirty="0"/>
              <a:t>, </a:t>
            </a:r>
            <a:r>
              <a:rPr lang="en-IN" dirty="0"/>
              <a:t>the </a:t>
            </a:r>
            <a:r>
              <a:rPr lang="hi-IN" b="1" dirty="0"/>
              <a:t>ं </a:t>
            </a:r>
            <a:r>
              <a:rPr lang="en-IN" b="1" dirty="0"/>
              <a:t>dot</a:t>
            </a:r>
            <a:r>
              <a:rPr lang="en-IN" dirty="0"/>
              <a:t> is separate from the </a:t>
            </a:r>
            <a:r>
              <a:rPr lang="hi-IN" b="1" dirty="0"/>
              <a:t>ै मात्रा</a:t>
            </a:r>
            <a:r>
              <a:rPr lang="hi-IN" dirty="0"/>
              <a:t>. </a:t>
            </a:r>
            <a:r>
              <a:rPr lang="en-IN" dirty="0"/>
              <a:t>Do not include it in the red </a:t>
            </a:r>
            <a:r>
              <a:rPr lang="en-IN" dirty="0" err="1"/>
              <a:t>matra</a:t>
            </a:r>
            <a:r>
              <a:rPr lang="en-IN" dirty="0"/>
              <a:t> highlight.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Pronounce </a:t>
            </a:r>
            <a:r>
              <a:rPr lang="hi-IN" b="1" dirty="0"/>
              <a:t>भैंस</a:t>
            </a:r>
            <a:r>
              <a:rPr lang="hi-IN" dirty="0"/>
              <a:t> </a:t>
            </a:r>
            <a:r>
              <a:rPr lang="en-IN" dirty="0"/>
              <a:t>naturally, preserving its nasal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learning focus is recognising </a:t>
            </a:r>
            <a:r>
              <a:rPr lang="hi-IN" b="1" dirty="0"/>
              <a:t>ऐ की मात्रा</a:t>
            </a:r>
            <a:r>
              <a:rPr lang="hi-IN" dirty="0"/>
              <a:t> </a:t>
            </a:r>
            <a:r>
              <a:rPr lang="en-IN" dirty="0"/>
              <a:t>in both words: </a:t>
            </a:r>
            <a:r>
              <a:rPr lang="hi-IN" b="1" dirty="0"/>
              <a:t>बैल, भैंस</a:t>
            </a:r>
            <a:r>
              <a:rPr lang="hi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40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“ए”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, </a:t>
            </a:r>
            <a:r>
              <a:rPr lang="en-GB" b="1" dirty="0" err="1"/>
              <a:t>बैल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“ए”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three options: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, </a:t>
            </a:r>
            <a:r>
              <a:rPr lang="en-GB" b="1" dirty="0" err="1"/>
              <a:t>बैल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hi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जिस डिब्बे में “ए” की मात्रा वाला शब्द है, उस डिब्बे पर टैप कीजिए।”</a:t>
            </a:r>
            <a:br>
              <a:rPr lang="hi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b="1" dirty="0"/>
              <a:t>Correct Answer: </a:t>
            </a:r>
            <a:r>
              <a:rPr lang="en-GB" b="1" dirty="0" err="1"/>
              <a:t>सेब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सेब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सेब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 inside </a:t>
            </a:r>
            <a:r>
              <a:rPr lang="en-GB" b="1" dirty="0" err="1"/>
              <a:t>सेब</a:t>
            </a:r>
            <a:r>
              <a:rPr lang="en-GB" dirty="0"/>
              <a:t> in red.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पैर</a:t>
            </a:r>
            <a:r>
              <a:rPr lang="en-GB" dirty="0"/>
              <a:t> or </a:t>
            </a:r>
            <a:r>
              <a:rPr lang="en-GB" b="1" dirty="0" err="1"/>
              <a:t>बैल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each word is spoken, highlight its </a:t>
            </a:r>
            <a:r>
              <a:rPr lang="en-GB" dirty="0" err="1"/>
              <a:t>matra</a:t>
            </a:r>
            <a:r>
              <a:rPr lang="en-GB" dirty="0"/>
              <a:t> in red using the same style as the teaching screens: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बैल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सेब</a:t>
            </a:r>
            <a:r>
              <a:rPr lang="en-GB" b="1" dirty="0"/>
              <a:t>। </a:t>
            </a:r>
            <a:r>
              <a:rPr lang="en-GB" b="1" dirty="0" err="1"/>
              <a:t>पैर</a:t>
            </a:r>
            <a:r>
              <a:rPr lang="en-GB" b="1" dirty="0"/>
              <a:t>। </a:t>
            </a:r>
            <a:r>
              <a:rPr lang="en-GB" b="1" dirty="0" err="1"/>
              <a:t>बैल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सेब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सेब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े</a:t>
            </a:r>
            <a:r>
              <a:rPr lang="en-GB" dirty="0"/>
              <a:t> inside </a:t>
            </a:r>
            <a:r>
              <a:rPr lang="en-GB" b="1" dirty="0" err="1"/>
              <a:t>सेब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पैर</a:t>
            </a:r>
            <a:r>
              <a:rPr lang="en-GB" dirty="0"/>
              <a:t> and </a:t>
            </a:r>
            <a:r>
              <a:rPr lang="en-GB" b="1" dirty="0" err="1"/>
              <a:t>बैल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सेब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सेब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पैर</a:t>
            </a:r>
            <a:r>
              <a:rPr lang="en-GB" dirty="0"/>
              <a:t> to </a:t>
            </a:r>
            <a:r>
              <a:rPr lang="en-GB" b="1" dirty="0" err="1"/>
              <a:t>बैल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3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पेड़</a:t>
            </a:r>
            <a:r>
              <a:rPr lang="en-GB" b="1" dirty="0"/>
              <a:t>, </a:t>
            </a:r>
            <a:r>
              <a:rPr lang="en-GB" b="1" dirty="0" err="1"/>
              <a:t>रेल</a:t>
            </a:r>
            <a:r>
              <a:rPr lang="en-GB" b="1" dirty="0"/>
              <a:t>, </a:t>
            </a:r>
            <a:r>
              <a:rPr lang="en-GB" b="1" dirty="0" err="1"/>
              <a:t>बैग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three options: </a:t>
            </a:r>
            <a:r>
              <a:rPr lang="en-GB" b="1" dirty="0" err="1"/>
              <a:t>पेड़</a:t>
            </a:r>
            <a:r>
              <a:rPr lang="en-GB" b="1" dirty="0"/>
              <a:t>, </a:t>
            </a:r>
            <a:r>
              <a:rPr lang="en-GB" b="1" dirty="0" err="1"/>
              <a:t>रेल</a:t>
            </a:r>
            <a:r>
              <a:rPr lang="en-GB" b="1" dirty="0"/>
              <a:t>, </a:t>
            </a:r>
            <a:r>
              <a:rPr lang="en-GB" b="1" dirty="0" err="1"/>
              <a:t>बैग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बैग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बैग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बैग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बैग</a:t>
            </a:r>
            <a:r>
              <a:rPr lang="en-GB" dirty="0"/>
              <a:t> in red.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पेड़</a:t>
            </a:r>
            <a:r>
              <a:rPr lang="en-GB" dirty="0"/>
              <a:t> or </a:t>
            </a:r>
            <a:r>
              <a:rPr lang="en-GB" b="1" dirty="0" err="1"/>
              <a:t>रेल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पेड़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रेल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र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बैग</a:t>
            </a:r>
            <a:r>
              <a:rPr lang="en-GB" dirty="0"/>
              <a:t> is spoken,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dot in </a:t>
            </a:r>
            <a:r>
              <a:rPr lang="en-GB" b="1" dirty="0" err="1"/>
              <a:t>पेड़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। </a:t>
            </a:r>
            <a:r>
              <a:rPr lang="en-GB" b="1" dirty="0" err="1"/>
              <a:t>रेल</a:t>
            </a:r>
            <a:r>
              <a:rPr lang="en-GB" b="1" dirty="0"/>
              <a:t>। </a:t>
            </a:r>
            <a:r>
              <a:rPr lang="en-GB" b="1" dirty="0" err="1"/>
              <a:t>बैग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बैग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बैग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strokes of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बैग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पेड़</a:t>
            </a:r>
            <a:r>
              <a:rPr lang="en-GB" dirty="0"/>
              <a:t> and </a:t>
            </a:r>
            <a:r>
              <a:rPr lang="en-GB" b="1" dirty="0" err="1"/>
              <a:t>रेल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बैग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बैग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बैग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पेड़</a:t>
            </a:r>
            <a:r>
              <a:rPr lang="en-GB" dirty="0"/>
              <a:t> to </a:t>
            </a:r>
            <a:r>
              <a:rPr lang="en-GB" b="1" dirty="0" err="1"/>
              <a:t>रेल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06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Option Change:</a:t>
            </a:r>
            <a:endParaRPr lang="en-GB" dirty="0"/>
          </a:p>
          <a:p>
            <a:r>
              <a:rPr lang="en-GB" dirty="0"/>
              <a:t>Replace </a:t>
            </a:r>
            <a:r>
              <a:rPr lang="en-GB" b="1" dirty="0" err="1"/>
              <a:t>रेल</a:t>
            </a:r>
            <a:r>
              <a:rPr lang="en-GB" dirty="0"/>
              <a:t> with </a:t>
            </a:r>
            <a:r>
              <a:rPr lang="en-GB" b="1" dirty="0" err="1"/>
              <a:t>सेब</a:t>
            </a:r>
            <a:r>
              <a:rPr lang="en-GB" dirty="0"/>
              <a:t>, a familiar word children have already learnt. The updated options will be </a:t>
            </a:r>
            <a:r>
              <a:rPr lang="en-GB" b="1" dirty="0" err="1"/>
              <a:t>मेज़</a:t>
            </a:r>
            <a:r>
              <a:rPr lang="en-GB" b="1" dirty="0"/>
              <a:t>, </a:t>
            </a:r>
            <a:r>
              <a:rPr lang="en-GB" b="1" dirty="0" err="1"/>
              <a:t>पैन</a:t>
            </a:r>
            <a:r>
              <a:rPr lang="en-GB" b="1" dirty="0"/>
              <a:t>, </a:t>
            </a:r>
            <a:r>
              <a:rPr lang="en-GB" b="1" dirty="0" err="1"/>
              <a:t>सेब</a:t>
            </a:r>
            <a:r>
              <a:rPr lang="en-GB" dirty="0"/>
              <a:t>. </a:t>
            </a:r>
            <a:r>
              <a:rPr lang="en-GB" b="1" dirty="0" err="1"/>
              <a:t>पैन</a:t>
            </a:r>
            <a:r>
              <a:rPr lang="en-GB" dirty="0"/>
              <a:t> remains the only correct answer for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मेज़</a:t>
            </a:r>
            <a:r>
              <a:rPr lang="en-GB" b="1" dirty="0"/>
              <a:t>, </a:t>
            </a:r>
            <a:r>
              <a:rPr lang="en-GB" b="1" dirty="0" err="1"/>
              <a:t>पैन</a:t>
            </a:r>
            <a:r>
              <a:rPr lang="en-GB" b="1" dirty="0"/>
              <a:t>, </a:t>
            </a:r>
            <a:r>
              <a:rPr lang="en-GB" b="1" dirty="0" err="1"/>
              <a:t>सेब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</a:t>
            </a:r>
            <a:r>
              <a:rPr lang="en-GB" b="1" dirty="0" err="1"/>
              <a:t>रेल</a:t>
            </a:r>
            <a:r>
              <a:rPr lang="en-GB" dirty="0"/>
              <a:t> in the third coach with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options in this order: </a:t>
            </a:r>
            <a:r>
              <a:rPr lang="en-GB" b="1" dirty="0" err="1"/>
              <a:t>मेज़</a:t>
            </a:r>
            <a:r>
              <a:rPr lang="en-GB" b="1" dirty="0"/>
              <a:t>, </a:t>
            </a:r>
            <a:r>
              <a:rPr lang="en-GB" b="1" dirty="0" err="1"/>
              <a:t>पैन</a:t>
            </a:r>
            <a:r>
              <a:rPr lang="en-GB" b="1" dirty="0"/>
              <a:t>,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पैन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पैन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पैन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पैन</a:t>
            </a:r>
            <a:r>
              <a:rPr lang="en-GB" dirty="0"/>
              <a:t> in red.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मेज़</a:t>
            </a:r>
            <a:r>
              <a:rPr lang="en-GB" dirty="0"/>
              <a:t> or </a:t>
            </a:r>
            <a:r>
              <a:rPr lang="en-GB" b="1" dirty="0" err="1"/>
              <a:t>सेब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मेज़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म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पैन</a:t>
            </a:r>
            <a:r>
              <a:rPr lang="en-GB" dirty="0"/>
              <a:t> is spoken,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सेब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स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dot in </a:t>
            </a:r>
            <a:r>
              <a:rPr lang="en-GB" b="1" dirty="0" err="1"/>
              <a:t>मेज़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मेज़</a:t>
            </a:r>
            <a:r>
              <a:rPr lang="en-GB" b="1" dirty="0"/>
              <a:t>। </a:t>
            </a:r>
            <a:r>
              <a:rPr lang="en-GB" b="1" dirty="0" err="1"/>
              <a:t>पैन</a:t>
            </a:r>
            <a:r>
              <a:rPr lang="en-GB" b="1" dirty="0"/>
              <a:t>। </a:t>
            </a:r>
            <a:r>
              <a:rPr lang="en-GB" b="1" dirty="0" err="1"/>
              <a:t>सेब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पैन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पैन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strokes of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पैन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मेज़</a:t>
            </a:r>
            <a:r>
              <a:rPr lang="en-GB" dirty="0"/>
              <a:t> and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पैन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पैन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पैन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third option’s text and associated word audio from </a:t>
            </a:r>
            <a:r>
              <a:rPr lang="en-GB" b="1" dirty="0" err="1"/>
              <a:t>रेल</a:t>
            </a:r>
            <a:r>
              <a:rPr lang="en-GB" dirty="0"/>
              <a:t> to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मेज़</a:t>
            </a:r>
            <a:r>
              <a:rPr lang="en-GB" dirty="0"/>
              <a:t> to </a:t>
            </a:r>
            <a:r>
              <a:rPr lang="en-GB" b="1" dirty="0" err="1"/>
              <a:t>सेब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573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Suggested New Words: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बेर</a:t>
            </a:r>
            <a:r>
              <a:rPr lang="en-GB" b="1" dirty="0"/>
              <a:t>, </a:t>
            </a:r>
            <a:r>
              <a:rPr lang="en-GB" b="1" dirty="0" err="1"/>
              <a:t>थैला</a:t>
            </a:r>
            <a:r>
              <a:rPr lang="en-GB" b="1" dirty="0"/>
              <a:t>, </a:t>
            </a:r>
            <a:r>
              <a:rPr lang="en-GB" b="1" dirty="0" err="1"/>
              <a:t>पैसा</a:t>
            </a:r>
            <a:r>
              <a:rPr lang="en-GB" dirty="0"/>
              <a:t> to introduce different words with clear picture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शेर</a:t>
            </a:r>
            <a:r>
              <a:rPr lang="en-GB" dirty="0"/>
              <a:t>, </a:t>
            </a:r>
            <a:r>
              <a:rPr lang="en-GB" dirty="0" err="1"/>
              <a:t>बेर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थैला</a:t>
            </a:r>
            <a:r>
              <a:rPr lang="en-GB" dirty="0"/>
              <a:t>, </a:t>
            </a:r>
            <a:r>
              <a:rPr lang="en-GB" dirty="0" err="1"/>
              <a:t>पैसा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coaches labelled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drop areas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Four draggable picture-and-word cards appear below the train in mixed order: </a:t>
            </a:r>
            <a:r>
              <a:rPr lang="en-GB" b="1" dirty="0" err="1"/>
              <a:t>थैला</a:t>
            </a:r>
            <a:r>
              <a:rPr lang="en-GB" b="1" dirty="0"/>
              <a:t>,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पैसा</a:t>
            </a:r>
            <a:r>
              <a:rPr lang="en-GB" b="1" dirty="0"/>
              <a:t>, </a:t>
            </a:r>
            <a:r>
              <a:rPr lang="en-GB" b="1" dirty="0" err="1"/>
              <a:t>बेर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VO, then read each card’s word aloud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only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 as the coach labels, matching the attached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card should show a clear picture with its word underneath.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A recognisable lion with a clear mane.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बेर</a:t>
            </a:r>
            <a:r>
              <a:rPr lang="en-GB" b="1" dirty="0"/>
              <a:t>:</a:t>
            </a:r>
            <a:r>
              <a:rPr lang="en-GB" dirty="0"/>
              <a:t> A few recognisable </a:t>
            </a:r>
            <a:r>
              <a:rPr lang="en-GB" dirty="0" err="1"/>
              <a:t>ber</a:t>
            </a:r>
            <a:r>
              <a:rPr lang="en-GB" dirty="0"/>
              <a:t> fruits, with one cut fruit showing the stone. Avoid an image resembling apples or grapes.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थैला</a:t>
            </a:r>
            <a:r>
              <a:rPr lang="en-GB" b="1" dirty="0"/>
              <a:t>:</a:t>
            </a:r>
            <a:r>
              <a:rPr lang="en-GB" dirty="0"/>
              <a:t> A simple cloth shopping bag with two handles.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पैसा</a:t>
            </a:r>
            <a:r>
              <a:rPr lang="en-GB" b="1" dirty="0"/>
              <a:t>:</a:t>
            </a:r>
            <a:r>
              <a:rPr lang="en-GB" dirty="0"/>
              <a:t> A clear coin illustration.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 minimal background detail.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Pair every picture with its written word and spoken name to make the intended vocabulary clear.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Card-name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थैला</a:t>
            </a:r>
            <a:r>
              <a:rPr lang="en-GB" b="1" dirty="0"/>
              <a:t>।” / 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पैसा</a:t>
            </a:r>
            <a:r>
              <a:rPr lang="en-GB" b="1" dirty="0"/>
              <a:t>।” / “</a:t>
            </a:r>
            <a:r>
              <a:rPr lang="en-GB" b="1" dirty="0" err="1"/>
              <a:t>बेर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 tap on a card plays its name without counting as an answer attempt. Disable dragging while the word VO plays.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card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mapping:</a:t>
            </a:r>
          </a:p>
          <a:p>
            <a:r>
              <a:rPr lang="en-GB" dirty="0" err="1"/>
              <a:t>WordCorrect</a:t>
            </a:r>
            <a:r>
              <a:rPr lang="en-GB" dirty="0"/>
              <a:t> </a:t>
            </a:r>
            <a:r>
              <a:rPr lang="en-GB" dirty="0" err="1"/>
              <a:t>डिब्बाशेरएबेरएथैलाऐपैसाऐ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 two cards inside each coach without overlap.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either coach the same neutral hover highlight when a card moves over it. This should not indicate whether the answer is correct.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target </a:t>
            </a:r>
            <a:r>
              <a:rPr lang="en-GB" dirty="0" err="1"/>
              <a:t>matra</a:t>
            </a:r>
            <a:r>
              <a:rPr lang="en-GB" dirty="0"/>
              <a:t> inside the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correctly placed card so it cannot be dragged again.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थैला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 </a:t>
            </a:r>
            <a:r>
              <a:rPr lang="en-GB" dirty="0" err="1"/>
              <a:t>matra</a:t>
            </a:r>
            <a:r>
              <a:rPr lang="en-GB" dirty="0"/>
              <a:t> or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only the wrongly dropped word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target </a:t>
            </a:r>
            <a:r>
              <a:rPr lang="en-GB" dirty="0" err="1"/>
              <a:t>matra</a:t>
            </a:r>
            <a:r>
              <a:rPr lang="en-GB" dirty="0"/>
              <a:t> in red using the teaching-screen style: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श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बेर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थैला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थ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पैसा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थैला</a:t>
            </a:r>
            <a:r>
              <a:rPr lang="en-GB" dirty="0"/>
              <a:t> and </a:t>
            </a:r>
            <a:r>
              <a:rPr lang="en-GB" b="1" dirty="0" err="1"/>
              <a:t>पैसा</a:t>
            </a:r>
            <a:r>
              <a:rPr lang="en-GB" dirty="0"/>
              <a:t>, keep </a:t>
            </a:r>
            <a:r>
              <a:rPr lang="en-GB" b="1" dirty="0"/>
              <a:t>ा</a:t>
            </a:r>
            <a:r>
              <a:rPr lang="en-GB" dirty="0"/>
              <a:t> in the regular text colour. The comparison here is between </a:t>
            </a:r>
            <a:r>
              <a:rPr lang="en-GB" b="1" dirty="0"/>
              <a:t>े</a:t>
            </a:r>
            <a:r>
              <a:rPr lang="en-GB" dirty="0"/>
              <a:t> and </a:t>
            </a:r>
            <a:r>
              <a:rPr lang="en-GB" b="1" dirty="0"/>
              <a:t>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coach or show a hand.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try either coach.</a:t>
            </a:r>
          </a:p>
          <a:p>
            <a:r>
              <a:rPr lang="en-GB" b="1" dirty="0"/>
              <a:t>Word VO — Play Only the Current Word: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बेर</a:t>
            </a:r>
            <a:r>
              <a:rPr lang="en-GB" b="1" dirty="0"/>
              <a:t>।” / “</a:t>
            </a:r>
            <a:r>
              <a:rPr lang="en-GB" b="1" dirty="0" err="1"/>
              <a:t>थैला</a:t>
            </a:r>
            <a:r>
              <a:rPr lang="en-GB" b="1" dirty="0"/>
              <a:t>।” / “</a:t>
            </a:r>
            <a:r>
              <a:rPr lang="en-GB" b="1" dirty="0" err="1"/>
              <a:t>पैसा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current card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drag nudge from the card to the correct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this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other unfinished cards until this guided placement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drag the current card only into its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place the card automatically.</a:t>
            </a:r>
          </a:p>
          <a:p>
            <a:r>
              <a:rPr lang="en-GB" b="1" dirty="0"/>
              <a:t>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बेर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थैला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पैसा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target </a:t>
            </a:r>
            <a:r>
              <a:rPr lang="en-GB" dirty="0" err="1"/>
              <a:t>matra</a:t>
            </a:r>
            <a:r>
              <a:rPr lang="en-GB" dirty="0"/>
              <a:t> highlighted and lock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unfinished cards.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all four cards are correctly placed,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 when dragging begins.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drop/success sound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four cards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</a:t>
            </a:r>
            <a:r>
              <a:rPr lang="en-GB" b="1" dirty="0"/>
              <a:t>separate wrong-attempt counter for each card</a:t>
            </a:r>
            <a:r>
              <a:rPr lang="en-GB" dirty="0"/>
              <a:t>. Each new card starts at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switches cards, preserve each unfinished card’s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A name-only tap or release outside both coaches does not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 for that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cards locked throughout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places a card correctly earlier, stop its hint sequence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hand drag nudge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00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coaches labelled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drop areas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draggable </a:t>
            </a:r>
            <a:r>
              <a:rPr lang="en-GB" dirty="0" err="1"/>
              <a:t>matra</a:t>
            </a:r>
            <a:r>
              <a:rPr lang="en-GB" dirty="0"/>
              <a:t> cards below the train: </a:t>
            </a:r>
            <a:r>
              <a:rPr lang="en-GB" b="1" dirty="0"/>
              <a:t>◌ै</a:t>
            </a:r>
            <a:r>
              <a:rPr lang="en-GB" dirty="0"/>
              <a:t> and </a:t>
            </a:r>
            <a:r>
              <a:rPr lang="en-GB" b="1" dirty="0"/>
              <a:t>◌े</a:t>
            </a:r>
            <a:r>
              <a:rPr lang="en-GB" dirty="0"/>
              <a:t>, as in the attached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 above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</a:t>
            </a:r>
            <a:r>
              <a:rPr lang="en-GB" dirty="0" err="1"/>
              <a:t>matra</a:t>
            </a:r>
            <a:r>
              <a:rPr lang="en-GB" dirty="0"/>
              <a:t> symbols to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</a:t>
            </a:r>
            <a:r>
              <a:rPr lang="en-GB" dirty="0" err="1"/>
              <a:t>matra</a:t>
            </a:r>
            <a:r>
              <a:rPr lang="en-GB" dirty="0"/>
              <a:t> cards in the regular text colour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neutral dotted circle to display each </a:t>
            </a:r>
            <a:r>
              <a:rPr lang="en-GB" dirty="0" err="1"/>
              <a:t>matra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</a:t>
            </a:r>
            <a:r>
              <a:rPr lang="en-GB" dirty="0" err="1"/>
              <a:t>matra</a:t>
            </a:r>
            <a:r>
              <a:rPr lang="en-GB" dirty="0"/>
              <a:t> card into its matching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mapping: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◌े → ए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◌ै → ऐ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 only one </a:t>
            </a:r>
            <a:r>
              <a:rPr lang="en-GB" dirty="0" err="1"/>
              <a:t>matra</a:t>
            </a:r>
            <a:r>
              <a:rPr lang="en-GB" dirty="0"/>
              <a:t> card inside each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hover highlight for either coach. It should not reveal whether the destination is correct.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announce the </a:t>
            </a:r>
            <a:r>
              <a:rPr lang="en-GB" dirty="0" err="1"/>
              <a:t>matra’s</a:t>
            </a:r>
            <a:r>
              <a:rPr lang="en-GB" dirty="0"/>
              <a:t> name on initial pick-up, as this would identify its matching coach.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dirty="0" err="1"/>
              <a:t>matra</a:t>
            </a:r>
            <a:r>
              <a:rPr lang="en-GB" dirty="0"/>
              <a:t>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correctly placed card.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◌े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◌ै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</a:t>
            </a:r>
            <a:r>
              <a:rPr lang="en-GB" dirty="0" err="1"/>
              <a:t>matra</a:t>
            </a:r>
            <a:r>
              <a:rPr lang="en-GB" dirty="0"/>
              <a:t> or either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</a:t>
            </a:r>
            <a:r>
              <a:rPr lang="en-GB" b="1" dirty="0"/>
              <a:t>only the wrongly dropped </a:t>
            </a:r>
            <a:r>
              <a:rPr lang="en-GB" b="1" dirty="0" err="1"/>
              <a:t>matra</a:t>
            </a:r>
            <a:r>
              <a:rPr lang="en-GB" b="1" dirty="0"/>
              <a:t> card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</a:t>
            </a:r>
            <a:r>
              <a:rPr lang="en-GB" dirty="0" err="1"/>
              <a:t>matra</a:t>
            </a:r>
            <a:r>
              <a:rPr lang="en-GB" dirty="0"/>
              <a:t> strokes in red using the teaching-screen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/>
              <a:t>◌े</a:t>
            </a:r>
            <a:r>
              <a:rPr lang="en-GB" dirty="0"/>
              <a:t>, trace its single upper stroke.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/>
              <a:t>◌ै</a:t>
            </a:r>
            <a:r>
              <a:rPr lang="en-GB" dirty="0"/>
              <a:t>, trace its two upper strokes one after the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coach labels visible without highlighting the correct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announce the </a:t>
            </a:r>
            <a:r>
              <a:rPr lang="en-GB" dirty="0" err="1"/>
              <a:t>matra’s</a:t>
            </a:r>
            <a:r>
              <a:rPr lang="en-GB" dirty="0"/>
              <a:t> name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return the card to its normal size and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आकार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current </a:t>
            </a:r>
            <a:r>
              <a:rPr lang="en-GB" dirty="0" err="1"/>
              <a:t>matra</a:t>
            </a:r>
            <a:r>
              <a:rPr lang="en-GB" dirty="0"/>
              <a:t> card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drag nudge from the card to the correct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this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the other unfinished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drag. Do not place the card automatically.</a:t>
            </a:r>
          </a:p>
          <a:p>
            <a:r>
              <a:rPr lang="en-GB" b="1" dirty="0"/>
              <a:t>VO for ◌े: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◌ै: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card, if any.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both </a:t>
            </a:r>
            <a:r>
              <a:rPr lang="en-GB" dirty="0" err="1"/>
              <a:t>matras</a:t>
            </a:r>
            <a:r>
              <a:rPr lang="en-GB" dirty="0"/>
              <a:t> are placed correctly,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 when dragging begins.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</a:t>
            </a:r>
            <a:r>
              <a:rPr lang="en-GB" dirty="0" err="1"/>
              <a:t>matras</a:t>
            </a:r>
            <a:r>
              <a:rPr lang="en-GB" dirty="0"/>
              <a:t>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separate wrong-attempt counter for each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card starts at zero. Switching cards must not reset an existing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Releasing outside both coaches simply returns the card without adding an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cards locked. A wrong drop onto an occupied coach should return the dragged card without disturbing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stop that card’s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hand drag nudge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With only two cards, the second placement may be completed by elimination. Treat this screen as supported matching practice.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788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Word Change:</a:t>
            </a:r>
            <a:endParaRPr lang="en-GB" dirty="0"/>
          </a:p>
          <a:p>
            <a:r>
              <a:rPr lang="en-GB" dirty="0"/>
              <a:t>Replace </a:t>
            </a:r>
            <a:r>
              <a:rPr lang="en-GB" b="1" dirty="0" err="1"/>
              <a:t>रेल</a:t>
            </a:r>
            <a:r>
              <a:rPr lang="en-GB" dirty="0"/>
              <a:t> with </a:t>
            </a:r>
            <a:r>
              <a:rPr lang="en-GB" b="1" dirty="0" err="1"/>
              <a:t>मेज़</a:t>
            </a:r>
            <a:r>
              <a:rPr lang="en-GB" dirty="0"/>
              <a:t>, a familiar word that can be shown clearly through a table image.</a:t>
            </a:r>
          </a:p>
          <a:p>
            <a:r>
              <a:rPr lang="en-GB" dirty="0"/>
              <a:t>The three target words will be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, </a:t>
            </a:r>
            <a:r>
              <a:rPr lang="en-GB" b="1" dirty="0" err="1"/>
              <a:t>मेज़</a:t>
            </a:r>
            <a:r>
              <a:rPr lang="en-GB" dirty="0"/>
              <a:t>.</a:t>
            </a:r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train with </a:t>
            </a:r>
            <a:r>
              <a:rPr lang="en-GB" b="1" dirty="0"/>
              <a:t>three coaches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coach contains a blank for the </a:t>
            </a:r>
            <a:r>
              <a:rPr lang="en-GB" b="1" dirty="0"/>
              <a:t>first </a:t>
            </a:r>
            <a:r>
              <a:rPr lang="en-GB" b="1" dirty="0" err="1"/>
              <a:t>अक्षर</a:t>
            </a:r>
            <a:r>
              <a:rPr lang="en-GB" dirty="0"/>
              <a:t>, followed by the remaining letter.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picture and drags the correct </a:t>
            </a:r>
            <a:r>
              <a:rPr lang="en-GB" dirty="0" err="1"/>
              <a:t>अक्षर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whole </a:t>
            </a:r>
            <a:r>
              <a:rPr lang="en-GB" dirty="0" err="1"/>
              <a:t>अक्षर</a:t>
            </a:r>
            <a:r>
              <a:rPr lang="en-GB" dirty="0"/>
              <a:t> options such as </a:t>
            </a: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पै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dirty="0"/>
              <a:t>, rather than separate </a:t>
            </a:r>
            <a:r>
              <a:rPr lang="en-GB" dirty="0" err="1"/>
              <a:t>matra</a:t>
            </a:r>
            <a:r>
              <a:rPr lang="en-GB" dirty="0"/>
              <a:t> symbols.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these pictures and incomplete words:</a:t>
            </a:r>
          </a:p>
          <a:p>
            <a:r>
              <a:rPr lang="en-GB" dirty="0" err="1"/>
              <a:t>PictureIncomplete</a:t>
            </a:r>
            <a:r>
              <a:rPr lang="en-GB" dirty="0"/>
              <a:t> </a:t>
            </a:r>
            <a:r>
              <a:rPr lang="en-GB" dirty="0" err="1"/>
              <a:t>WordCorrect</a:t>
            </a:r>
            <a:r>
              <a:rPr lang="en-GB" dirty="0"/>
              <a:t> </a:t>
            </a:r>
            <a:r>
              <a:rPr lang="en-GB" dirty="0" err="1"/>
              <a:t>OptionCompleted</a:t>
            </a:r>
            <a:r>
              <a:rPr lang="en-GB" dirty="0"/>
              <a:t> </a:t>
            </a:r>
            <a:r>
              <a:rPr lang="en-GB" dirty="0" err="1"/>
              <a:t>WordApple</a:t>
            </a:r>
            <a:r>
              <a:rPr lang="en-GB" b="1" dirty="0" err="1"/>
              <a:t>_बसेसेब</a:t>
            </a:r>
            <a:r>
              <a:rPr lang="en-GB" dirty="0" err="1"/>
              <a:t>Foot</a:t>
            </a:r>
            <a:r>
              <a:rPr lang="en-GB" b="1" dirty="0" err="1"/>
              <a:t>_रपैपैर</a:t>
            </a:r>
            <a:r>
              <a:rPr lang="en-GB" dirty="0" err="1"/>
              <a:t>Table</a:t>
            </a:r>
            <a:r>
              <a:rPr lang="en-GB" b="1" dirty="0" err="1"/>
              <a:t>_ज़मेमेज़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the rail picture above the third coach with a </a:t>
            </a:r>
            <a:r>
              <a:rPr lang="en-GB" b="1" dirty="0"/>
              <a:t>table image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Change the third incomplete word from </a:t>
            </a:r>
            <a:r>
              <a:rPr lang="en-GB" b="1" dirty="0"/>
              <a:t>_ल</a:t>
            </a:r>
            <a:r>
              <a:rPr lang="en-GB" dirty="0"/>
              <a:t> to </a:t>
            </a:r>
            <a:r>
              <a:rPr lang="en-GB" b="1" dirty="0"/>
              <a:t>_</a:t>
            </a:r>
            <a:r>
              <a:rPr lang="en-GB" b="1" dirty="0" err="1"/>
              <a:t>ज़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five draggable options in mixed order: </a:t>
            </a: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बै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b="1" dirty="0"/>
              <a:t>, </a:t>
            </a:r>
            <a:r>
              <a:rPr lang="en-GB" b="1" dirty="0" err="1"/>
              <a:t>बे</a:t>
            </a:r>
            <a:r>
              <a:rPr lang="en-GB" b="1" dirty="0"/>
              <a:t>,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बै</a:t>
            </a:r>
            <a:r>
              <a:rPr lang="en-GB" dirty="0"/>
              <a:t> and </a:t>
            </a:r>
            <a:r>
              <a:rPr lang="en-GB" b="1" dirty="0" err="1"/>
              <a:t>बे</a:t>
            </a:r>
            <a:r>
              <a:rPr lang="en-GB" dirty="0"/>
              <a:t> are distractors. They do not correctly complete any pictured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</a:t>
            </a:r>
            <a:r>
              <a:rPr lang="en-GB" b="1" dirty="0" err="1"/>
              <a:t>रे</a:t>
            </a:r>
            <a:r>
              <a:rPr lang="en-GB" dirty="0"/>
              <a:t> from the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complete words or highlight </a:t>
            </a:r>
            <a:r>
              <a:rPr lang="en-GB" dirty="0" err="1"/>
              <a:t>matras</a:t>
            </a:r>
            <a:r>
              <a:rPr lang="en-GB" dirty="0"/>
              <a:t>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train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r>
              <a:rPr lang="en-GB" b="1" dirty="0"/>
              <a:t>:</a:t>
            </a:r>
            <a:r>
              <a:rPr lang="en-GB" dirty="0"/>
              <a:t> A clear red apple.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A recognisable bare foot with visible toes.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मेज़</a:t>
            </a:r>
            <a:r>
              <a:rPr lang="en-GB" b="1" dirty="0"/>
              <a:t>:</a:t>
            </a:r>
            <a:r>
              <a:rPr lang="en-GB" dirty="0"/>
              <a:t> A simple table with a clear tabletop and visible legs.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images large enough to recognise and use a consistent illustration style.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 and stops at the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Picture cards appear above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Incomplete words appear inside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अक्षर</a:t>
            </a:r>
            <a:r>
              <a:rPr lang="en-GB" dirty="0"/>
              <a:t> options slide up from the bottom.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Tapping an </a:t>
            </a:r>
            <a:r>
              <a:rPr lang="en-GB" dirty="0" err="1"/>
              <a:t>अक्षर</a:t>
            </a:r>
            <a:r>
              <a:rPr lang="en-GB" dirty="0"/>
              <a:t> card plays only its sound: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।” / “</a:t>
            </a:r>
            <a:r>
              <a:rPr lang="en-GB" b="1" dirty="0" err="1"/>
              <a:t>बै</a:t>
            </a:r>
            <a:r>
              <a:rPr lang="en-GB" b="1" dirty="0"/>
              <a:t>।” / “</a:t>
            </a:r>
            <a:r>
              <a:rPr lang="en-GB" b="1" dirty="0" err="1"/>
              <a:t>मे</a:t>
            </a:r>
            <a:r>
              <a:rPr lang="en-GB" b="1" dirty="0"/>
              <a:t>।” / “</a:t>
            </a:r>
            <a:r>
              <a:rPr lang="en-GB" b="1" dirty="0" err="1"/>
              <a:t>बे</a:t>
            </a:r>
            <a:r>
              <a:rPr lang="en-GB" b="1" dirty="0"/>
              <a:t>।” / “</a:t>
            </a:r>
            <a:r>
              <a:rPr lang="en-GB" b="1" dirty="0" err="1"/>
              <a:t>पै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sound-only tap does not count as an answer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the VO plays.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an </a:t>
            </a:r>
            <a:r>
              <a:rPr lang="en-GB" dirty="0" err="1"/>
              <a:t>अक्षर</a:t>
            </a:r>
            <a:r>
              <a:rPr lang="en-GB" dirty="0"/>
              <a:t> into a word’s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combinations: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</a:t>
            </a:r>
            <a:r>
              <a:rPr lang="en-GB" b="1" dirty="0"/>
              <a:t> + ब = </a:t>
            </a:r>
            <a:r>
              <a:rPr lang="en-GB" b="1" dirty="0" err="1"/>
              <a:t>सेब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</a:t>
            </a:r>
            <a:r>
              <a:rPr lang="en-GB" b="1" dirty="0"/>
              <a:t> + र = </a:t>
            </a:r>
            <a:r>
              <a:rPr lang="en-GB" b="1" dirty="0" err="1"/>
              <a:t>पैर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मे</a:t>
            </a:r>
            <a:r>
              <a:rPr lang="en-GB" b="1" dirty="0"/>
              <a:t> + </a:t>
            </a:r>
            <a:r>
              <a:rPr lang="en-GB" b="1" dirty="0" err="1"/>
              <a:t>ज़</a:t>
            </a:r>
            <a:r>
              <a:rPr lang="en-GB" b="1" dirty="0"/>
              <a:t> = </a:t>
            </a:r>
            <a:r>
              <a:rPr lang="en-GB" b="1" dirty="0" err="1"/>
              <a:t>मेज़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each blank the same neutral hover highlight, without indicating whether the option is correct.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placement only when the completed word matches the picture. For example, </a:t>
            </a:r>
            <a:r>
              <a:rPr lang="en-GB" b="1" dirty="0" err="1"/>
              <a:t>बै</a:t>
            </a:r>
            <a:r>
              <a:rPr lang="en-GB" b="1" dirty="0"/>
              <a:t> + र</a:t>
            </a:r>
            <a:r>
              <a:rPr lang="en-GB" dirty="0"/>
              <a:t> forms </a:t>
            </a:r>
            <a:r>
              <a:rPr lang="en-GB" b="1" dirty="0" err="1"/>
              <a:t>बैर</a:t>
            </a:r>
            <a:r>
              <a:rPr lang="en-GB" dirty="0"/>
              <a:t>, but it does not match the foot picture.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dirty="0" err="1"/>
              <a:t>अक्षर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its target </a:t>
            </a:r>
            <a:r>
              <a:rPr lang="en-GB" dirty="0" err="1"/>
              <a:t>matra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word and its used </a:t>
            </a:r>
            <a:r>
              <a:rPr lang="en-GB" dirty="0" err="1"/>
              <a:t>अक्षर</a:t>
            </a:r>
            <a:r>
              <a:rPr lang="en-GB" dirty="0"/>
              <a:t> card.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पैर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</a:t>
            </a:r>
            <a:r>
              <a:rPr lang="en-GB" dirty="0" err="1"/>
              <a:t>अक्षर</a:t>
            </a:r>
            <a:r>
              <a:rPr lang="en-GB" dirty="0"/>
              <a:t>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</a:t>
            </a:r>
            <a:r>
              <a:rPr lang="en-GB" dirty="0" err="1"/>
              <a:t>अक्षर</a:t>
            </a:r>
            <a:r>
              <a:rPr lang="en-GB" dirty="0"/>
              <a:t> or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only the wrongly dropped </a:t>
            </a:r>
            <a:r>
              <a:rPr lang="en-GB" b="1" dirty="0" err="1"/>
              <a:t>अक्षर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that card and highlight its </a:t>
            </a:r>
            <a:r>
              <a:rPr lang="en-GB" dirty="0" err="1"/>
              <a:t>matra</a:t>
            </a:r>
            <a:r>
              <a:rPr lang="en-GB" dirty="0"/>
              <a:t> in 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b="1" dirty="0"/>
              <a:t>, </a:t>
            </a:r>
            <a:r>
              <a:rPr lang="en-GB" b="1" dirty="0" err="1"/>
              <a:t>बे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</a:t>
            </a:r>
            <a:r>
              <a:rPr lang="en-GB" b="1" dirty="0"/>
              <a:t>, </a:t>
            </a:r>
            <a:r>
              <a:rPr lang="en-GB" b="1" dirty="0" err="1"/>
              <a:t>बै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relevant picture and incomplete word clearly visible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return the card to its normal size and allow another attempt.</a:t>
            </a:r>
          </a:p>
          <a:p>
            <a:r>
              <a:rPr lang="en-GB" b="1" dirty="0"/>
              <a:t>Option VO — Play Only the Wrongly Dropped </a:t>
            </a:r>
            <a:r>
              <a:rPr lang="en-GB" b="1" dirty="0" err="1"/>
              <a:t>अक्षर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।” / “</a:t>
            </a:r>
            <a:r>
              <a:rPr lang="en-GB" b="1" dirty="0" err="1"/>
              <a:t>बै</a:t>
            </a:r>
            <a:r>
              <a:rPr lang="en-GB" b="1" dirty="0"/>
              <a:t>।” / “</a:t>
            </a:r>
            <a:r>
              <a:rPr lang="en-GB" b="1" dirty="0" err="1"/>
              <a:t>मे</a:t>
            </a:r>
            <a:r>
              <a:rPr lang="en-GB" b="1" dirty="0"/>
              <a:t>।” / “</a:t>
            </a:r>
            <a:r>
              <a:rPr lang="en-GB" b="1" dirty="0" err="1"/>
              <a:t>बे</a:t>
            </a:r>
            <a:r>
              <a:rPr lang="en-GB" b="1" dirty="0"/>
              <a:t>।” / “</a:t>
            </a:r>
            <a:r>
              <a:rPr lang="en-GB" b="1" dirty="0" err="1"/>
              <a:t>पै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the wrong card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</a:t>
            </a:r>
            <a:r>
              <a:rPr lang="en-GB" dirty="0" err="1"/>
              <a:t>अक्षर</a:t>
            </a:r>
            <a:r>
              <a:rPr lang="en-GB" dirty="0"/>
              <a:t> and its matching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lock all other options and destinations.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drag the </a:t>
            </a:r>
            <a:r>
              <a:rPr lang="en-GB" dirty="0" err="1"/>
              <a:t>अक्षर</a:t>
            </a:r>
            <a:r>
              <a:rPr lang="en-GB" dirty="0"/>
              <a:t> into the blank. Do not complete the word automatically.</a:t>
            </a:r>
          </a:p>
          <a:p>
            <a:r>
              <a:rPr lang="en-GB" b="1" dirty="0"/>
              <a:t>VO for </a:t>
            </a:r>
            <a:r>
              <a:rPr lang="en-GB" b="1" dirty="0" err="1"/>
              <a:t>सेब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</a:t>
            </a:r>
            <a:r>
              <a:rPr lang="en-GB" b="1" dirty="0" err="1"/>
              <a:t>पैर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पै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पैर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पै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</a:t>
            </a:r>
            <a:r>
              <a:rPr lang="en-GB" b="1" dirty="0" err="1"/>
              <a:t>मेज़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मे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बनती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मे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animate the hand from the correct </a:t>
            </a:r>
            <a:r>
              <a:rPr lang="en-GB" dirty="0" err="1"/>
              <a:t>अक्षर</a:t>
            </a:r>
            <a:r>
              <a:rPr lang="en-GB" dirty="0"/>
              <a:t> to its matching blank.</a:t>
            </a:r>
          </a:p>
          <a:p>
            <a:r>
              <a:rPr lang="en-GB" b="1" dirty="0"/>
              <a:t>Distractor Handling and Attempt Counts: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 separate wrong-attempt counter for each correct </a:t>
            </a:r>
            <a:r>
              <a:rPr lang="en-GB" dirty="0" err="1"/>
              <a:t>अक्षर</a:t>
            </a:r>
            <a:r>
              <a:rPr lang="en-GB" dirty="0"/>
              <a:t> card: </a:t>
            </a: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पै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its counter if the child switches cards. A new card starts at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At Hint 3, guide that </a:t>
            </a:r>
            <a:r>
              <a:rPr lang="en-GB" dirty="0" err="1"/>
              <a:t>अक्षर</a:t>
            </a:r>
            <a:r>
              <a:rPr lang="en-GB" dirty="0"/>
              <a:t> to its matching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wrong drop of </a:t>
            </a:r>
            <a:r>
              <a:rPr lang="en-GB" b="1" dirty="0" err="1"/>
              <a:t>बै</a:t>
            </a:r>
            <a:r>
              <a:rPr lang="en-GB" dirty="0"/>
              <a:t> or </a:t>
            </a:r>
            <a:r>
              <a:rPr lang="en-GB" b="1" dirty="0" err="1"/>
              <a:t>बे</a:t>
            </a:r>
            <a:r>
              <a:rPr lang="en-GB" dirty="0"/>
              <a:t> also counts as an attempt. Track these errors against the unfinished blank where the distractor was dropped.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बै</a:t>
            </a:r>
            <a:r>
              <a:rPr lang="en-GB" dirty="0"/>
              <a:t> and </a:t>
            </a:r>
            <a:r>
              <a:rPr lang="en-GB" b="1" dirty="0" err="1"/>
              <a:t>बे</a:t>
            </a:r>
            <a:r>
              <a:rPr lang="en-GB" dirty="0"/>
              <a:t> must not reset that blank’s distractor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third distractor error for a blank, reveal the correct </a:t>
            </a:r>
            <a:r>
              <a:rPr lang="en-GB" dirty="0" err="1"/>
              <a:t>अक्षर</a:t>
            </a:r>
            <a:r>
              <a:rPr lang="en-GB" dirty="0"/>
              <a:t> for that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release outside all blanks simply returns the card and does not count as an answer attempt.</a:t>
            </a:r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correct </a:t>
            </a:r>
            <a:r>
              <a:rPr lang="en-GB" dirty="0" err="1"/>
              <a:t>अक्षर</a:t>
            </a:r>
            <a:r>
              <a:rPr lang="en-GB" dirty="0"/>
              <a:t> into place.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word and highlight its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word and re-enable the remaining unfinished items.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Finish when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 are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Leave the unused distractors in the tray and disable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all three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completion.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completed words locked throughout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Stop an item’s hint sequence immediately if the child answers correctly earlier.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the </a:t>
            </a:r>
            <a:r>
              <a:rPr lang="en-GB" dirty="0" err="1"/>
              <a:t>nukta</a:t>
            </a:r>
            <a:r>
              <a:rPr lang="en-GB" dirty="0"/>
              <a:t> in </a:t>
            </a:r>
            <a:r>
              <a:rPr lang="en-GB" b="1" dirty="0" err="1"/>
              <a:t>ज़</a:t>
            </a:r>
            <a:r>
              <a:rPr lang="en-GB" dirty="0"/>
              <a:t> when displaying </a:t>
            </a:r>
            <a:r>
              <a:rPr lang="en-GB" b="1" dirty="0"/>
              <a:t>_</a:t>
            </a:r>
            <a:r>
              <a:rPr lang="en-GB" b="1" dirty="0" err="1"/>
              <a:t>ज़</a:t>
            </a:r>
            <a:r>
              <a:rPr lang="en-GB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target </a:t>
            </a:r>
            <a:r>
              <a:rPr lang="en-GB" dirty="0" err="1"/>
              <a:t>matra</a:t>
            </a:r>
            <a:r>
              <a:rPr lang="en-GB" dirty="0"/>
              <a:t>, keeping consonants, headline and </a:t>
            </a:r>
            <a:r>
              <a:rPr lang="en-GB" dirty="0" err="1"/>
              <a:t>nukta</a:t>
            </a:r>
            <a:r>
              <a:rPr lang="en-GB" dirty="0"/>
              <a:t> unchanged.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914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Picture Change:</a:t>
            </a:r>
            <a:endParaRPr lang="en-GB" dirty="0"/>
          </a:p>
          <a:p>
            <a:r>
              <a:rPr lang="en-GB" dirty="0"/>
              <a:t>Replace the </a:t>
            </a:r>
            <a:r>
              <a:rPr lang="en-GB" b="1" dirty="0" err="1"/>
              <a:t>रेल</a:t>
            </a:r>
            <a:r>
              <a:rPr lang="en-GB" b="1" dirty="0"/>
              <a:t> picture with a </a:t>
            </a:r>
            <a:r>
              <a:rPr lang="en-GB" b="1" dirty="0" err="1"/>
              <a:t>शेर</a:t>
            </a:r>
            <a:r>
              <a:rPr lang="en-GB" b="1" dirty="0"/>
              <a:t> picture</a:t>
            </a:r>
            <a:r>
              <a:rPr lang="en-GB" dirty="0"/>
              <a:t>, following the earlier decision to avoid confusion with the train theme.</a:t>
            </a:r>
          </a:p>
          <a:p>
            <a:r>
              <a:rPr lang="en-GB" dirty="0"/>
              <a:t>Use these four pictures: </a:t>
            </a:r>
            <a:r>
              <a:rPr lang="en-GB" b="1" dirty="0" err="1"/>
              <a:t>पैन</a:t>
            </a:r>
            <a:r>
              <a:rPr lang="en-GB" b="1" dirty="0"/>
              <a:t>, </a:t>
            </a:r>
            <a:r>
              <a:rPr lang="en-GB" b="1" dirty="0" err="1"/>
              <a:t>मेज़</a:t>
            </a:r>
            <a:r>
              <a:rPr lang="en-GB" b="1" dirty="0"/>
              <a:t>,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बैग</a:t>
            </a:r>
            <a:r>
              <a:rPr lang="en-GB" dirty="0"/>
              <a:t>.</a:t>
            </a:r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train with </a:t>
            </a:r>
            <a:r>
              <a:rPr lang="en-GB" b="1" dirty="0"/>
              <a:t>two coaches</a:t>
            </a:r>
            <a:r>
              <a:rPr lang="en-GB" dirty="0"/>
              <a:t>, labelled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inside of each coach empty as a drop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</a:t>
            </a:r>
            <a:r>
              <a:rPr lang="en-GB" b="1" dirty="0"/>
              <a:t>picture cards only</a:t>
            </a:r>
            <a:r>
              <a:rPr lang="en-GB" dirty="0"/>
              <a:t> below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listens to each picture’s name and drags it into the correct </a:t>
            </a:r>
            <a:r>
              <a:rPr lang="en-GB" dirty="0" err="1"/>
              <a:t>डिब्बा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initial question free of written picture names.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During </a:t>
            </a:r>
            <a:r>
              <a:rPr lang="en-GB" b="1" dirty="0"/>
              <a:t>Hint 2 only</a:t>
            </a:r>
            <a:r>
              <a:rPr lang="en-GB" dirty="0"/>
              <a:t>, temporarily show the wrongly dropped picture’s name and highlight its </a:t>
            </a:r>
            <a:r>
              <a:rPr lang="en-GB" dirty="0" err="1"/>
              <a:t>matra</a:t>
            </a:r>
            <a:r>
              <a:rPr lang="en-GB" dirty="0"/>
              <a:t>. This provides the visual support required by the latest hint logic.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Replace </a:t>
            </a:r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”</a:t>
            </a:r>
            <a:r>
              <a:rPr lang="en-GB" dirty="0"/>
              <a:t> with </a:t>
            </a:r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”</a:t>
            </a:r>
            <a:r>
              <a:rPr lang="en-GB" dirty="0"/>
              <a:t> in both the heading and VO.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Coach labels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Picture cards </a:t>
            </a:r>
            <a:r>
              <a:rPr lang="en-GB" b="1" dirty="0" err="1"/>
              <a:t>पैन</a:t>
            </a:r>
            <a:r>
              <a:rPr lang="en-GB" b="1" dirty="0"/>
              <a:t>, </a:t>
            </a:r>
            <a:r>
              <a:rPr lang="en-GB" b="1" dirty="0" err="1"/>
              <a:t>मेज़</a:t>
            </a:r>
            <a:r>
              <a:rPr lang="en-GB" b="1" dirty="0"/>
              <a:t>,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बैग</a:t>
            </a:r>
            <a:r>
              <a:rPr lang="en-GB" dirty="0"/>
              <a:t> appear below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coach label: </a:t>
            </a:r>
            <a:r>
              <a:rPr lang="en-GB" b="1" dirty="0"/>
              <a:t>ए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Second coach label: </a:t>
            </a:r>
            <a:r>
              <a:rPr lang="en-GB" b="1" dirty="0"/>
              <a:t>ऐ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</a:t>
            </a:r>
            <a:r>
              <a:rPr lang="en-GB" dirty="0" err="1"/>
              <a:t>matra</a:t>
            </a:r>
            <a:r>
              <a:rPr lang="en-GB" dirty="0"/>
              <a:t> symbols to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four pictures clear and equally prominent.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picture names or correct-answer cues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train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पैन</a:t>
            </a:r>
            <a:r>
              <a:rPr lang="en-GB" b="1" dirty="0"/>
              <a:t>:</a:t>
            </a:r>
            <a:r>
              <a:rPr lang="en-GB" dirty="0"/>
              <a:t> A clearly recognisable writing pen.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मेज़</a:t>
            </a:r>
            <a:r>
              <a:rPr lang="en-GB" b="1" dirty="0"/>
              <a:t>:</a:t>
            </a:r>
            <a:r>
              <a:rPr lang="en-GB" dirty="0"/>
              <a:t> A table with a visible tabletop and legs.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A lion with a clear mane.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बैग</a:t>
            </a:r>
            <a:r>
              <a:rPr lang="en-GB" b="1" dirty="0"/>
              <a:t>:</a:t>
            </a:r>
            <a:r>
              <a:rPr lang="en-GB" dirty="0"/>
              <a:t> A familiar school backpack.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without distracting backgrounds.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Picture-name VO:</a:t>
            </a:r>
            <a:endParaRPr lang="en-GB" dirty="0"/>
          </a:p>
          <a:p>
            <a:r>
              <a:rPr lang="en-GB" dirty="0"/>
              <a:t>When the child taps a picture,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पैन</a:t>
            </a:r>
            <a:r>
              <a:rPr lang="en-GB" b="1" dirty="0"/>
              <a:t>।” / “</a:t>
            </a:r>
            <a:r>
              <a:rPr lang="en-GB" b="1" dirty="0" err="1"/>
              <a:t>मेज़</a:t>
            </a:r>
            <a:r>
              <a:rPr lang="en-GB" b="1" dirty="0"/>
              <a:t>।” / 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बैग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does not count as an answer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 drag begins before the name has been heard, play the name first and enable dragging after the VO finishes.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picture into its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coach accepts two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picture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hover highlight for either coach, without indicating correctness.</a:t>
            </a:r>
          </a:p>
          <a:p>
            <a:r>
              <a:rPr lang="en-GB" b="1" dirty="0"/>
              <a:t>Correct Mapping:</a:t>
            </a:r>
            <a:endParaRPr lang="en-GB" dirty="0"/>
          </a:p>
          <a:p>
            <a:r>
              <a:rPr lang="en-GB" dirty="0" err="1"/>
              <a:t>PictureCorrect</a:t>
            </a:r>
            <a:r>
              <a:rPr lang="en-GB" dirty="0"/>
              <a:t> </a:t>
            </a:r>
            <a:r>
              <a:rPr lang="en-GB" dirty="0" err="1"/>
              <a:t>डिब्बापैनऐमेज़एशेरएबैगऐ</a:t>
            </a:r>
            <a:endParaRPr lang="en-GB" dirty="0"/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picture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placed pictures clearly visible without overlap.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picture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Replay only that picture’s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its written name, highlight a coach or add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Play the current picture’s name, 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picture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Replay </a:t>
            </a:r>
            <a:r>
              <a:rPr lang="en-GB" b="1" dirty="0"/>
              <a:t>only the wrongly dropped picture’s name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display its word underneath the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</a:t>
            </a:r>
            <a:r>
              <a:rPr lang="en-GB" dirty="0" err="1"/>
              <a:t>matra</a:t>
            </a:r>
            <a:r>
              <a:rPr lang="en-GB" dirty="0"/>
              <a:t> in red using the teaching-screen style: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पैन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मेज़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म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श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बैग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in </a:t>
            </a:r>
            <a:r>
              <a:rPr lang="en-GB" b="1" dirty="0" err="1"/>
              <a:t>मेज़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this word support visible for the next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coach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either destination.</a:t>
            </a:r>
          </a:p>
          <a:p>
            <a:r>
              <a:rPr lang="en-GB" b="1" dirty="0"/>
              <a:t>Word VO — Play Only the Current Word: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पैन</a:t>
            </a:r>
            <a:r>
              <a:rPr lang="en-GB" b="1" dirty="0"/>
              <a:t>।” / “</a:t>
            </a:r>
            <a:r>
              <a:rPr lang="en-GB" b="1" dirty="0" err="1"/>
              <a:t>मेज़</a:t>
            </a:r>
            <a:r>
              <a:rPr lang="en-GB" b="1" dirty="0"/>
              <a:t>।” / 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बैग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the wrongly dropped picture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picture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that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other unfinished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drag the picture. Do not place it automatically.</a:t>
            </a:r>
          </a:p>
          <a:p>
            <a:r>
              <a:rPr lang="en-GB" b="1" dirty="0"/>
              <a:t>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the current picture to its correct coach.</a:t>
            </a:r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picture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temporary word support and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unfinished pictures.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all four pictures are correctly sorted,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or 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four pictures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separate wrong-attempt counter for each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new picture starts at zero. Switching pictures must not reset an existing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Name-only taps and releases outside both coaches do not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pictures locked during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temporary word support when its picture is correctly placed.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stop that picture’s hint sequence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former </a:t>
            </a:r>
            <a:r>
              <a:rPr lang="en-GB" b="1" dirty="0" err="1"/>
              <a:t>रेल</a:t>
            </a:r>
            <a:r>
              <a:rPr lang="en-GB" dirty="0"/>
              <a:t> card’s image and name audio to </a:t>
            </a:r>
            <a:r>
              <a:rPr lang="en-GB" b="1" dirty="0" err="1"/>
              <a:t>शेर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848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using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garden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Sentence: </a:t>
            </a: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बैल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पैन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tree clearly visible in the main scene.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recognisable bullock image for </a:t>
            </a:r>
            <a:r>
              <a:rPr lang="en-GB" b="1" dirty="0" err="1"/>
              <a:t>बैल</a:t>
            </a:r>
            <a:r>
              <a:rPr lang="en-GB" dirty="0"/>
              <a:t>, with a visible hump and horns.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option or the tree in the scene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।” / “</a:t>
            </a:r>
            <a:r>
              <a:rPr lang="en-GB" b="1" dirty="0" err="1"/>
              <a:t>बैल</a:t>
            </a:r>
            <a:r>
              <a:rPr lang="en-GB" b="1" dirty="0"/>
              <a:t>।” / “</a:t>
            </a:r>
            <a:r>
              <a:rPr lang="en-GB" b="1" dirty="0" err="1"/>
              <a:t>पैन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पेड़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पेड़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बैल</a:t>
            </a:r>
            <a:r>
              <a:rPr lang="en-GB" dirty="0"/>
              <a:t> or </a:t>
            </a:r>
            <a:r>
              <a:rPr lang="en-GB" b="1" dirty="0" err="1"/>
              <a:t>पैन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tree,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large tree in the main scene</a:t>
            </a:r>
            <a:r>
              <a:rPr lang="en-GB" dirty="0"/>
              <a:t>, including its trunk and canopy, to help the child compare the sentence with the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पेड़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बैल</a:t>
            </a:r>
            <a:r>
              <a:rPr lang="en-GB" dirty="0"/>
              <a:t> and </a:t>
            </a:r>
            <a:r>
              <a:rPr lang="en-GB" b="1" dirty="0" err="1"/>
              <a:t>पैन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पेड़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पेड़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पेड़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पेड़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बैल</a:t>
            </a:r>
            <a:r>
              <a:rPr lang="en-GB" dirty="0"/>
              <a:t> and </a:t>
            </a:r>
            <a:r>
              <a:rPr lang="en-GB" b="1" dirty="0" err="1"/>
              <a:t>पैन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this activity, Hint 2 highlights the relevant </a:t>
            </a:r>
            <a:r>
              <a:rPr lang="en-GB" b="1" dirty="0"/>
              <a:t>scene detail</a:t>
            </a:r>
            <a:r>
              <a:rPr lang="en-GB" dirty="0"/>
              <a:t> because the task tests sentence meaning.</a:t>
            </a:r>
          </a:p>
          <a:p>
            <a:r>
              <a:rPr lang="en-GB" dirty="0"/>
              <a:t>19:10</a:t>
            </a:r>
          </a:p>
          <a:p>
            <a:r>
              <a:rPr lang="en-GB" dirty="0"/>
              <a:t>now for this</a:t>
            </a:r>
          </a:p>
          <a:p>
            <a:r>
              <a:rPr lang="en-GB" dirty="0"/>
              <a:t>19:14</a:t>
            </a:r>
          </a:p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using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writing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Sentence: </a:t>
            </a:r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___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पैन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बैल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 the pen in the child’s hand is clearly visible and recognisable.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recognisable bullock image for </a:t>
            </a:r>
            <a:r>
              <a:rPr lang="en-GB" b="1" dirty="0" err="1"/>
              <a:t>बैल</a:t>
            </a:r>
            <a:r>
              <a:rPr lang="en-GB" dirty="0"/>
              <a:t>, with a visible hump and horns.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pen in the scene or the correct option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पैन</a:t>
            </a:r>
            <a:r>
              <a:rPr lang="en-GB" b="1" dirty="0"/>
              <a:t>।” / “</a:t>
            </a:r>
            <a:r>
              <a:rPr lang="en-GB" b="1" dirty="0" err="1"/>
              <a:t>पेड़</a:t>
            </a:r>
            <a:r>
              <a:rPr lang="en-GB" b="1" dirty="0"/>
              <a:t>।” / “</a:t>
            </a:r>
            <a:r>
              <a:rPr lang="en-GB" b="1" dirty="0" err="1"/>
              <a:t>बैल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पैन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पैन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पेड़</a:t>
            </a:r>
            <a:r>
              <a:rPr lang="en-GB" dirty="0"/>
              <a:t> or </a:t>
            </a:r>
            <a:r>
              <a:rPr lang="en-GB" b="1" dirty="0" err="1"/>
              <a:t>बैल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pen,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pen held in the child’s writing hand</a:t>
            </a:r>
            <a:r>
              <a:rPr lang="en-GB" dirty="0"/>
              <a:t> in the main scene. Keep the notebook visible to make the writing action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पैन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पेड़</a:t>
            </a:r>
            <a:r>
              <a:rPr lang="en-GB" dirty="0"/>
              <a:t> and </a:t>
            </a:r>
            <a:r>
              <a:rPr lang="en-GB" b="1" dirty="0" err="1"/>
              <a:t>बैल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पैन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बच्चा</a:t>
            </a:r>
            <a:r>
              <a:rPr lang="en-GB" b="1" dirty="0"/>
              <a:t>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लिख</a:t>
            </a:r>
            <a:r>
              <a:rPr lang="en-GB" b="1" dirty="0"/>
              <a:t> </a:t>
            </a:r>
            <a:r>
              <a:rPr lang="en-GB" b="1" dirty="0" err="1"/>
              <a:t>रहा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पैन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पैन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पैन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पेड़</a:t>
            </a:r>
            <a:r>
              <a:rPr lang="en-GB" dirty="0"/>
              <a:t> and </a:t>
            </a:r>
            <a:r>
              <a:rPr lang="en-GB" b="1" dirty="0" err="1"/>
              <a:t>बैल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relevant </a:t>
            </a:r>
            <a:r>
              <a:rPr lang="en-GB" b="1" dirty="0"/>
              <a:t>scene detail</a:t>
            </a:r>
            <a:r>
              <a:rPr lang="en-GB" dirty="0"/>
              <a:t> in Hint 2 because the task tests sentence meaning. Both </a:t>
            </a:r>
            <a:r>
              <a:rPr lang="en-GB" b="1" dirty="0" err="1"/>
              <a:t>पैन</a:t>
            </a:r>
            <a:r>
              <a:rPr lang="en-GB" dirty="0"/>
              <a:t> and </a:t>
            </a:r>
            <a:r>
              <a:rPr lang="en-GB" b="1" dirty="0" err="1"/>
              <a:t>बैल</a:t>
            </a:r>
            <a:r>
              <a:rPr lang="en-GB" dirty="0"/>
              <a:t> contain ऐ </a:t>
            </a:r>
            <a:r>
              <a:rPr lang="en-GB" dirty="0" err="1"/>
              <a:t>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, so </a:t>
            </a:r>
            <a:r>
              <a:rPr lang="en-GB" dirty="0" err="1"/>
              <a:t>matra</a:t>
            </a:r>
            <a:r>
              <a:rPr lang="en-GB" dirty="0"/>
              <a:t> identification alone cannot determine the answer.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96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using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garden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Sentence: </a:t>
            </a: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बैल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पैन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tree clearly visible in the main scene.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recognisable bullock image for </a:t>
            </a:r>
            <a:r>
              <a:rPr lang="en-GB" b="1" dirty="0" err="1"/>
              <a:t>बैल</a:t>
            </a:r>
            <a:r>
              <a:rPr lang="en-GB" dirty="0"/>
              <a:t>, with a visible hump and horns.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option or the tree in the scene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।” / “</a:t>
            </a:r>
            <a:r>
              <a:rPr lang="en-GB" b="1" dirty="0" err="1"/>
              <a:t>बैल</a:t>
            </a:r>
            <a:r>
              <a:rPr lang="en-GB" b="1" dirty="0"/>
              <a:t>।” / “</a:t>
            </a:r>
            <a:r>
              <a:rPr lang="en-GB" b="1" dirty="0" err="1"/>
              <a:t>पैन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पेड़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पेड़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बैल</a:t>
            </a:r>
            <a:r>
              <a:rPr lang="en-GB" dirty="0"/>
              <a:t> or </a:t>
            </a:r>
            <a:r>
              <a:rPr lang="en-GB" b="1" dirty="0" err="1"/>
              <a:t>पैन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tree,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large tree in the main scene</a:t>
            </a:r>
            <a:r>
              <a:rPr lang="en-GB" dirty="0"/>
              <a:t>, including its trunk and canopy, to help the child compare the sentence with the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पैन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पेड़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बैल</a:t>
            </a:r>
            <a:r>
              <a:rPr lang="en-GB" dirty="0"/>
              <a:t> and </a:t>
            </a:r>
            <a:r>
              <a:rPr lang="en-GB" b="1" dirty="0" err="1"/>
              <a:t>पैन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पेड़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पेड़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पेड़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पेड़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बैल</a:t>
            </a:r>
            <a:r>
              <a:rPr lang="en-GB" dirty="0"/>
              <a:t> and </a:t>
            </a:r>
            <a:r>
              <a:rPr lang="en-GB" b="1" dirty="0" err="1"/>
              <a:t>पैन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this activity, Hint 2 highlights the relevant </a:t>
            </a:r>
            <a:r>
              <a:rPr lang="en-GB" b="1" dirty="0"/>
              <a:t>scene detail</a:t>
            </a:r>
            <a:r>
              <a:rPr lang="en-GB" dirty="0"/>
              <a:t> because the task tests sentence meaning.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36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using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eating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Sentence: </a:t>
            </a: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___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बैग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मेज़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 the apple in the child’s hands is clearly visible and the eating action is easy to understand.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apple in the scene or the correct option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सेब</a:t>
            </a:r>
            <a:r>
              <a:rPr lang="en-GB" b="1" dirty="0"/>
              <a:t>।” / “</a:t>
            </a:r>
            <a:r>
              <a:rPr lang="en-GB" b="1" dirty="0" err="1"/>
              <a:t>बैग</a:t>
            </a:r>
            <a:r>
              <a:rPr lang="en-GB" b="1" dirty="0"/>
              <a:t>।” / “</a:t>
            </a:r>
            <a:r>
              <a:rPr lang="en-GB" b="1" dirty="0" err="1"/>
              <a:t>मेज़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सेब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सेब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बैग</a:t>
            </a:r>
            <a:r>
              <a:rPr lang="en-GB" dirty="0"/>
              <a:t> or </a:t>
            </a:r>
            <a:r>
              <a:rPr lang="en-GB" b="1" dirty="0" err="1"/>
              <a:t>मेज़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apple,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apple held near the child’s mouth</a:t>
            </a:r>
            <a:r>
              <a:rPr lang="en-GB" dirty="0"/>
              <a:t> in the main scene to draw attention to what the child is eating.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सेब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बैग</a:t>
            </a:r>
            <a:r>
              <a:rPr lang="en-GB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सेब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बच्चा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</a:t>
            </a:r>
            <a:r>
              <a:rPr lang="en-GB" b="1" dirty="0"/>
              <a:t> </a:t>
            </a:r>
            <a:r>
              <a:rPr lang="en-GB" b="1" dirty="0" err="1"/>
              <a:t>रहा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सेब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सेब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सेब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बैग</a:t>
            </a:r>
            <a:r>
              <a:rPr lang="en-GB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relevant </a:t>
            </a:r>
            <a:r>
              <a:rPr lang="en-GB" b="1" dirty="0"/>
              <a:t>scene detail</a:t>
            </a:r>
            <a:r>
              <a:rPr lang="en-GB" dirty="0"/>
              <a:t> in Hint 2 because the task tests sentence meaning. Both </a:t>
            </a:r>
            <a:r>
              <a:rPr lang="en-GB" b="1" dirty="0" err="1"/>
              <a:t>सेब</a:t>
            </a:r>
            <a:r>
              <a:rPr lang="en-GB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 contain ए </a:t>
            </a:r>
            <a:r>
              <a:rPr lang="en-GB" dirty="0" err="1"/>
              <a:t>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, so </a:t>
            </a:r>
            <a:r>
              <a:rPr lang="en-GB" dirty="0" err="1"/>
              <a:t>matra</a:t>
            </a:r>
            <a:r>
              <a:rPr lang="en-GB" dirty="0"/>
              <a:t> identification alone cannot determine the answer.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891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30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HI02H11_L02_S03 · मात्राओं की रेल · ए / ऐ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18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01997-90A8-37CC-9AE8-4DE42E31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94" y="323690"/>
            <a:ext cx="11887811" cy="62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0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02_MATRA_INTRO.png</a:t>
            </a:r>
          </a:p>
        </p:txBody>
      </p:sp>
      <p:pic>
        <p:nvPicPr>
          <p:cNvPr id="3" name="Picture 2" descr="02_MATRA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03_MATRA_BUILD.png</a:t>
            </a:r>
          </a:p>
        </p:txBody>
      </p:sp>
      <p:pic>
        <p:nvPicPr>
          <p:cNvPr id="3" name="Picture 2" descr="03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04_MEET_PAIR.png</a:t>
            </a:r>
          </a:p>
        </p:txBody>
      </p:sp>
      <p:pic>
        <p:nvPicPr>
          <p:cNvPr id="3" name="Picture 2" descr="04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05_MATRA_BUILD.png</a:t>
            </a:r>
          </a:p>
        </p:txBody>
      </p:sp>
      <p:pic>
        <p:nvPicPr>
          <p:cNvPr id="3" name="Picture 2" descr="05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06_MEET_PAIR.png</a:t>
            </a:r>
          </a:p>
        </p:txBody>
      </p:sp>
      <p:pic>
        <p:nvPicPr>
          <p:cNvPr id="3" name="Picture 2" descr="06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F74943-1850-468E-9A49-EF4A0A350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23" y="291939"/>
            <a:ext cx="11741753" cy="62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94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07_TRAIN_TAP.png</a:t>
            </a:r>
          </a:p>
        </p:txBody>
      </p:sp>
      <p:pic>
        <p:nvPicPr>
          <p:cNvPr id="3" name="Picture 2" descr="07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08_TRAIN_TAP.png</a:t>
            </a:r>
          </a:p>
        </p:txBody>
      </p:sp>
      <p:pic>
        <p:nvPicPr>
          <p:cNvPr id="3" name="Picture 2" descr="08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10_TRAIN_SORT.png</a:t>
            </a:r>
          </a:p>
        </p:txBody>
      </p:sp>
      <p:pic>
        <p:nvPicPr>
          <p:cNvPr id="3" name="Picture 2" descr="10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11_TRAIN_SORT.png</a:t>
            </a:r>
          </a:p>
        </p:txBody>
      </p:sp>
      <p:pic>
        <p:nvPicPr>
          <p:cNvPr id="3" name="Picture 2" descr="11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12_WORD_BUILD.png</a:t>
            </a:r>
          </a:p>
        </p:txBody>
      </p:sp>
      <p:pic>
        <p:nvPicPr>
          <p:cNvPr id="3" name="Picture 2" descr="12_WORD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13_TRAIN_SORT.png</a:t>
            </a:r>
          </a:p>
        </p:txBody>
      </p:sp>
      <p:pic>
        <p:nvPicPr>
          <p:cNvPr id="3" name="Picture 2" descr="13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17_SENTENCE_COMPLETE.png</a:t>
            </a:r>
          </a:p>
        </p:txBody>
      </p:sp>
      <p:pic>
        <p:nvPicPr>
          <p:cNvPr id="3" name="Picture 2" descr="17_SENTENC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14_SENTENCE_COMPLETE.png</a:t>
            </a:r>
          </a:p>
        </p:txBody>
      </p:sp>
      <p:pic>
        <p:nvPicPr>
          <p:cNvPr id="3" name="Picture 2" descr="14_SENTENC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16_SENTENCE_COMPLETE.png</a:t>
            </a:r>
          </a:p>
        </p:txBody>
      </p:sp>
      <p:pic>
        <p:nvPicPr>
          <p:cNvPr id="3" name="Picture 2" descr="16_SENTENC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AE0C8-851D-8B14-7657-FE8384CF3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26" y="339566"/>
            <a:ext cx="11640148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837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7D4AF5-532D-4BEE-C31D-55980858C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1"/>
            <a:ext cx="12192000" cy="68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96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18_CELEBRATION.png</a:t>
            </a:r>
          </a:p>
        </p:txBody>
      </p:sp>
      <p:pic>
        <p:nvPicPr>
          <p:cNvPr id="3" name="Picture 2" descr="18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17 · CELEBRATION — recaps the skill: «शाबाश! आज हमने सीखा, ए और ऐ की मात्रा पहचानना, और मात्रा वाले शब्द पढ़ना।» No score, no timer, no stars shown to the child.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14073</Words>
  <Application>Microsoft Office PowerPoint</Application>
  <PresentationFormat>Widescreen</PresentationFormat>
  <Paragraphs>1461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Aamir .</cp:lastModifiedBy>
  <cp:revision>3</cp:revision>
  <dcterms:created xsi:type="dcterms:W3CDTF">2013-01-27T09:14:16Z</dcterms:created>
  <dcterms:modified xsi:type="dcterms:W3CDTF">2026-09-25T14:05:07Z</dcterms:modified>
  <cp:category/>
</cp:coreProperties>
</file>